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566" r:id="rId3"/>
    <p:sldId id="567" r:id="rId4"/>
    <p:sldId id="570" r:id="rId5"/>
    <p:sldId id="648" r:id="rId6"/>
    <p:sldId id="649" r:id="rId7"/>
    <p:sldId id="650" r:id="rId8"/>
    <p:sldId id="651" r:id="rId9"/>
    <p:sldId id="666" r:id="rId10"/>
    <p:sldId id="667" r:id="rId11"/>
    <p:sldId id="652" r:id="rId12"/>
    <p:sldId id="653" r:id="rId13"/>
    <p:sldId id="654" r:id="rId14"/>
    <p:sldId id="656" r:id="rId15"/>
    <p:sldId id="668" r:id="rId16"/>
    <p:sldId id="669" r:id="rId17"/>
    <p:sldId id="658" r:id="rId18"/>
    <p:sldId id="660" r:id="rId19"/>
    <p:sldId id="659" r:id="rId20"/>
    <p:sldId id="661" r:id="rId21"/>
    <p:sldId id="670" r:id="rId22"/>
    <p:sldId id="662" r:id="rId23"/>
    <p:sldId id="671" r:id="rId24"/>
    <p:sldId id="571" r:id="rId25"/>
    <p:sldId id="66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94660"/>
  </p:normalViewPr>
  <p:slideViewPr>
    <p:cSldViewPr snapToGrid="0">
      <p:cViewPr varScale="1">
        <p:scale>
          <a:sx n="79" d="100"/>
          <a:sy n="79" d="100"/>
        </p:scale>
        <p:origin x="1637" y="72"/>
      </p:cViewPr>
      <p:guideLst/>
    </p:cSldViewPr>
  </p:slideViewPr>
  <p:notesTextViewPr>
    <p:cViewPr>
      <p:scale>
        <a:sx n="1" d="1"/>
        <a:sy n="1" d="1"/>
      </p:scale>
      <p:origin x="0" y="0"/>
    </p:cViewPr>
  </p:notesTextViewPr>
  <p:sorterViewPr>
    <p:cViewPr varScale="1">
      <p:scale>
        <a:sx n="100" d="100"/>
        <a:sy n="100" d="100"/>
      </p:scale>
      <p:origin x="0" y="-51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DAEB0-71B9-45A8-8023-EB29BCC0E3F6}" type="datetimeFigureOut">
              <a:rPr lang="en-IN" smtClean="0"/>
              <a:t>15-04-2026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6A6E0-54B3-4F82-BCC5-63812BCE77EF}" type="slidenum">
              <a:rPr lang="en-IN" smtClean="0"/>
              <a:t>‹#›</a:t>
            </a:fld>
            <a:endParaRPr lang="en-IN"/>
          </a:p>
        </p:txBody>
      </p:sp>
    </p:spTree>
    <p:extLst>
      <p:ext uri="{BB962C8B-B14F-4D97-AF65-F5344CB8AC3E}">
        <p14:creationId xmlns:p14="http://schemas.microsoft.com/office/powerpoint/2010/main" val="2948607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196A6E0-54B3-4F82-BCC5-63812BCE77EF}" type="slidenum">
              <a:rPr lang="en-IN" smtClean="0"/>
              <a:t>1</a:t>
            </a:fld>
            <a:endParaRPr lang="en-IN"/>
          </a:p>
        </p:txBody>
      </p:sp>
    </p:spTree>
    <p:extLst>
      <p:ext uri="{BB962C8B-B14F-4D97-AF65-F5344CB8AC3E}">
        <p14:creationId xmlns:p14="http://schemas.microsoft.com/office/powerpoint/2010/main" val="1109856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196A6E0-54B3-4F82-BCC5-63812BCE77EF}" type="slidenum">
              <a:rPr lang="en-IN" smtClean="0"/>
              <a:t>2</a:t>
            </a:fld>
            <a:endParaRPr lang="en-IN"/>
          </a:p>
        </p:txBody>
      </p:sp>
    </p:spTree>
    <p:extLst>
      <p:ext uri="{BB962C8B-B14F-4D97-AF65-F5344CB8AC3E}">
        <p14:creationId xmlns:p14="http://schemas.microsoft.com/office/powerpoint/2010/main" val="2069471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9267E4-C52D-4DB2-9CA8-0B56124A9FC3}" type="slidenum">
              <a:rPr lang="en-IN" smtClean="0"/>
              <a:pPr/>
              <a:t>25</a:t>
            </a:fld>
            <a:endParaRPr lang="en-IN"/>
          </a:p>
        </p:txBody>
      </p:sp>
    </p:spTree>
    <p:extLst>
      <p:ext uri="{BB962C8B-B14F-4D97-AF65-F5344CB8AC3E}">
        <p14:creationId xmlns:p14="http://schemas.microsoft.com/office/powerpoint/2010/main" val="326652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628650" y="6639339"/>
            <a:ext cx="2057400" cy="227909"/>
          </a:xfrm>
          <a:prstGeom prst="rect">
            <a:avLst/>
          </a:prstGeom>
        </p:spPr>
        <p:txBody>
          <a:bodyPr/>
          <a:lstStyle>
            <a:lvl1pPr>
              <a:defRPr sz="1200" b="1">
                <a:solidFill>
                  <a:schemeClr val="bg1"/>
                </a:solidFill>
              </a:defRPr>
            </a:lvl1pPr>
          </a:lstStyle>
          <a:p>
            <a:fld id="{803A8B13-2D84-4CF8-A4DE-AA9E303C3B51}" type="datetime1">
              <a:rPr lang="en-IN" smtClean="0"/>
              <a:pPr/>
              <a:t>15-04-2026</a:t>
            </a:fld>
            <a:endParaRPr lang="en-IN" dirty="0"/>
          </a:p>
        </p:txBody>
      </p:sp>
      <p:sp>
        <p:nvSpPr>
          <p:cNvPr id="5" name="Footer Placeholder 4"/>
          <p:cNvSpPr>
            <a:spLocks noGrp="1"/>
          </p:cNvSpPr>
          <p:nvPr>
            <p:ph type="ftr" sz="quarter" idx="11"/>
          </p:nvPr>
        </p:nvSpPr>
        <p:spPr>
          <a:xfrm>
            <a:off x="3028950" y="6639339"/>
            <a:ext cx="3086100" cy="227909"/>
          </a:xfrm>
          <a:prstGeom prst="rect">
            <a:avLst/>
          </a:prstGeom>
        </p:spPr>
        <p:txBody>
          <a:bodyPr/>
          <a:lstStyle>
            <a:lvl1pPr algn="ctr">
              <a:defRPr sz="1200">
                <a:solidFill>
                  <a:schemeClr val="bg1"/>
                </a:solidFill>
              </a:defRPr>
            </a:lvl1pPr>
          </a:lstStyle>
          <a:p>
            <a:r>
              <a:rPr lang="en-US" b="1" dirty="0"/>
              <a:t>SREC-MECH</a:t>
            </a:r>
            <a:endParaRPr lang="en-IN" b="1" dirty="0"/>
          </a:p>
        </p:txBody>
      </p:sp>
      <p:sp>
        <p:nvSpPr>
          <p:cNvPr id="6" name="Slide Number Placeholder 5"/>
          <p:cNvSpPr>
            <a:spLocks noGrp="1"/>
          </p:cNvSpPr>
          <p:nvPr>
            <p:ph type="sldNum" sz="quarter" idx="12"/>
          </p:nvPr>
        </p:nvSpPr>
        <p:spPr>
          <a:xfrm>
            <a:off x="6457950" y="6626087"/>
            <a:ext cx="2057400" cy="227909"/>
          </a:xfrm>
          <a:prstGeom prst="rect">
            <a:avLst/>
          </a:prstGeom>
        </p:spPr>
        <p:txBody>
          <a:bodyPr/>
          <a:lstStyle>
            <a:lvl1pPr algn="r">
              <a:defRPr sz="1400" b="1">
                <a:solidFill>
                  <a:schemeClr val="bg1"/>
                </a:solidFill>
              </a:defRPr>
            </a:lvl1pPr>
          </a:lstStyle>
          <a:p>
            <a:r>
              <a:rPr lang="en-IN" dirty="0"/>
              <a:t>1</a:t>
            </a:r>
          </a:p>
        </p:txBody>
      </p:sp>
    </p:spTree>
    <p:extLst>
      <p:ext uri="{BB962C8B-B14F-4D97-AF65-F5344CB8AC3E}">
        <p14:creationId xmlns:p14="http://schemas.microsoft.com/office/powerpoint/2010/main" val="532672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FECAB431-EEA5-4BBC-82AC-40F761174871}" type="datetime1">
              <a:rPr lang="en-US" smtClean="0"/>
              <a:pPr/>
              <a:t>4/15/2026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3009814-85F0-44E2-AA29-54E28A9837B4}" type="slidenum">
              <a:rPr lang="en-IN" smtClean="0"/>
              <a:pPr/>
              <a:t>‹#›</a:t>
            </a:fld>
            <a:endParaRPr lang="en-IN"/>
          </a:p>
        </p:txBody>
      </p:sp>
    </p:spTree>
    <p:extLst>
      <p:ext uri="{BB962C8B-B14F-4D97-AF65-F5344CB8AC3E}">
        <p14:creationId xmlns:p14="http://schemas.microsoft.com/office/powerpoint/2010/main" val="18060210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691189"/>
            <a:ext cx="9138202" cy="170814"/>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0"/>
            <a:ext cx="185530" cy="685399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userDrawn="1"/>
        </p:nvSpPr>
        <p:spPr>
          <a:xfrm>
            <a:off x="8958470" y="4004"/>
            <a:ext cx="185530" cy="685399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0" y="1"/>
            <a:ext cx="9138202" cy="132522"/>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userDrawn="1"/>
        </p:nvSpPr>
        <p:spPr>
          <a:xfrm>
            <a:off x="5798" y="961646"/>
            <a:ext cx="9138202" cy="132522"/>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userDrawn="1"/>
        </p:nvPicPr>
        <p:blipFill rotWithShape="1">
          <a:blip r:embed="rId4" cstate="print">
            <a:extLst>
              <a:ext uri="{28A0092B-C50C-407E-A947-70E740481C1C}">
                <a14:useLocalDpi xmlns:a14="http://schemas.microsoft.com/office/drawing/2010/main" val="0"/>
              </a:ext>
            </a:extLst>
          </a:blip>
          <a:srcRect l="37025" t="26715" r="37761" b="27032"/>
          <a:stretch/>
        </p:blipFill>
        <p:spPr>
          <a:xfrm>
            <a:off x="344114" y="153365"/>
            <a:ext cx="569072" cy="777120"/>
          </a:xfrm>
          <a:prstGeom prst="rect">
            <a:avLst/>
          </a:prstGeom>
        </p:spPr>
      </p:pic>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30814" y="195902"/>
            <a:ext cx="539288" cy="702365"/>
          </a:xfrm>
          <a:prstGeom prst="rect">
            <a:avLst/>
          </a:prstGeom>
        </p:spPr>
      </p:pic>
    </p:spTree>
    <p:extLst>
      <p:ext uri="{BB962C8B-B14F-4D97-AF65-F5344CB8AC3E}">
        <p14:creationId xmlns:p14="http://schemas.microsoft.com/office/powerpoint/2010/main" val="2013879920"/>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ctr" defTabSz="914400" rtl="0" eaLnBrk="1" latinLnBrk="0" hangingPunct="1">
        <a:lnSpc>
          <a:spcPct val="90000"/>
        </a:lnSpc>
        <a:spcBef>
          <a:spcPct val="0"/>
        </a:spcBef>
        <a:buNone/>
        <a:defRPr lang="en-IN" sz="1100" b="1" kern="1200" smtClean="0">
          <a:solidFill>
            <a:schemeClr val="accent6">
              <a:lumMod val="50000"/>
            </a:schemeClr>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3AA52D9-2B3E-4ECD-ACA0-D13FE648313D}" type="datetime1">
              <a:rPr lang="en-IN" sz="1200" b="1" smtClean="0">
                <a:solidFill>
                  <a:schemeClr val="bg1"/>
                </a:solidFill>
              </a:rPr>
              <a:t>15-04-2026</a:t>
            </a:fld>
            <a:endParaRPr lang="en-IN" sz="1200" b="1" dirty="0">
              <a:solidFill>
                <a:schemeClr val="bg1"/>
              </a:solidFill>
            </a:endParaRPr>
          </a:p>
        </p:txBody>
      </p:sp>
      <p:sp>
        <p:nvSpPr>
          <p:cNvPr id="5" name="Slide Number Placeholder 4"/>
          <p:cNvSpPr>
            <a:spLocks noGrp="1"/>
          </p:cNvSpPr>
          <p:nvPr>
            <p:ph type="sldNum" sz="quarter" idx="12"/>
          </p:nvPr>
        </p:nvSpPr>
        <p:spPr/>
        <p:txBody>
          <a:bodyPr/>
          <a:lstStyle/>
          <a:p>
            <a:pPr algn="r"/>
            <a:r>
              <a:rPr lang="en-IN" sz="1200" b="1" dirty="0">
                <a:solidFill>
                  <a:schemeClr val="bg1"/>
                </a:solidFill>
              </a:rPr>
              <a:t>1</a:t>
            </a:r>
          </a:p>
        </p:txBody>
      </p:sp>
      <p:sp>
        <p:nvSpPr>
          <p:cNvPr id="6" name="Footer Placeholder 5"/>
          <p:cNvSpPr>
            <a:spLocks noGrp="1"/>
          </p:cNvSpPr>
          <p:nvPr>
            <p:ph type="ftr" sz="quarter" idx="11"/>
          </p:nvPr>
        </p:nvSpPr>
        <p:spPr/>
        <p:txBody>
          <a:bodyPr/>
          <a:lstStyle/>
          <a:p>
            <a:pPr algn="ctr"/>
            <a:r>
              <a:rPr lang="en-US" sz="1200" b="1" dirty="0">
                <a:solidFill>
                  <a:schemeClr val="bg1"/>
                </a:solidFill>
              </a:rPr>
              <a:t>SREC-MECH</a:t>
            </a:r>
            <a:endParaRPr lang="en-IN" sz="1200" b="1" dirty="0">
              <a:solidFill>
                <a:schemeClr val="bg1"/>
              </a:solidFill>
            </a:endParaRPr>
          </a:p>
        </p:txBody>
      </p:sp>
      <p:sp>
        <p:nvSpPr>
          <p:cNvPr id="7" name="Title Placeholder 1"/>
          <p:cNvSpPr>
            <a:spLocks noGrp="1"/>
          </p:cNvSpPr>
          <p:nvPr/>
        </p:nvSpPr>
        <p:spPr>
          <a:xfrm>
            <a:off x="0" y="148238"/>
            <a:ext cx="9144000" cy="84170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lang="en-IN" sz="1100" b="1" kern="1200" smtClean="0">
                <a:ln>
                  <a:noFill/>
                </a:ln>
                <a:solidFill>
                  <a:schemeClr val="accent6">
                    <a:lumMod val="50000"/>
                  </a:schemeClr>
                </a:solidFill>
                <a:effectLst/>
                <a:latin typeface="+mj-lt"/>
                <a:ea typeface="+mj-ea"/>
                <a:cs typeface="+mj-cs"/>
              </a:defRPr>
            </a:lvl1pPr>
          </a:lstStyle>
          <a:p>
            <a:r>
              <a:rPr lang="en-US" sz="1400" b="1" dirty="0">
                <a:effectLst/>
                <a:latin typeface="Arial" panose="020B0604020202020204" pitchFamily="34" charset="0"/>
                <a:ea typeface="Calibri" panose="020F0502020204030204" pitchFamily="34" charset="0"/>
                <a:cs typeface="Times New Roman" panose="02020603050405020304" pitchFamily="18" charset="0"/>
              </a:rPr>
              <a:t>SRI RAMAKRISHNA ENGINEERING COLLEGE</a:t>
            </a:r>
            <a:br>
              <a:rPr lang="en-US" sz="800" b="1" dirty="0">
                <a:effectLst/>
                <a:latin typeface="Arial" panose="020B0604020202020204" pitchFamily="34" charset="0"/>
                <a:ea typeface="Calibri" panose="020F0502020204030204" pitchFamily="34" charset="0"/>
                <a:cs typeface="Times New Roman" panose="02020603050405020304" pitchFamily="18" charset="0"/>
              </a:rPr>
            </a:br>
            <a:r>
              <a:rPr lang="en-US" sz="800" dirty="0">
                <a:effectLst/>
                <a:latin typeface="Arial" panose="020B0604020202020204" pitchFamily="34" charset="0"/>
                <a:ea typeface="Calibri" panose="020F0502020204030204" pitchFamily="34" charset="0"/>
                <a:cs typeface="Times New Roman" panose="02020603050405020304" pitchFamily="18" charset="0"/>
              </a:rPr>
              <a:t>[</a:t>
            </a:r>
            <a:r>
              <a:rPr lang="en-US" sz="900" dirty="0">
                <a:effectLst/>
                <a:latin typeface="Arial" panose="020B0604020202020204" pitchFamily="34" charset="0"/>
                <a:ea typeface="Calibri" panose="020F0502020204030204" pitchFamily="34" charset="0"/>
                <a:cs typeface="Times New Roman" panose="02020603050405020304" pitchFamily="18" charset="0"/>
              </a:rPr>
              <a:t>Educational Service: SNR Sons Charitable Trust]</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[Autonomous Institution, Reaccredited by NAAC with ‘A+’ Grade]</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[Approved by AICTE and Permanently Affiliated to Anna University, Chennai]</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[ISO 9001:2015 Certified and all eligible </a:t>
            </a:r>
            <a:r>
              <a:rPr lang="en-US" sz="900" dirty="0" err="1">
                <a:effectLst/>
                <a:latin typeface="Arial" panose="020B0604020202020204" pitchFamily="34" charset="0"/>
                <a:ea typeface="Calibri" panose="020F0502020204030204" pitchFamily="34" charset="0"/>
                <a:cs typeface="Times New Roman" panose="02020603050405020304" pitchFamily="18" charset="0"/>
              </a:rPr>
              <a:t>programmes</a:t>
            </a:r>
            <a:r>
              <a:rPr lang="en-US" sz="900" dirty="0">
                <a:effectLst/>
                <a:latin typeface="Arial" panose="020B0604020202020204" pitchFamily="34" charset="0"/>
                <a:ea typeface="Calibri" panose="020F0502020204030204" pitchFamily="34" charset="0"/>
                <a:cs typeface="Times New Roman" panose="02020603050405020304" pitchFamily="18" charset="0"/>
              </a:rPr>
              <a:t> Accredited by NBA]</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VATTAMALAIPALAYAM, N.G.G.O. COLONY POST, COIMBATORE – 641 022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819472" y="1443620"/>
            <a:ext cx="8001000" cy="5386090"/>
          </a:xfrm>
          <a:prstGeom prst="rect">
            <a:avLst/>
          </a:prstGeom>
        </p:spPr>
        <p:txBody>
          <a:bodyPr>
            <a:spAutoFit/>
          </a:bodyPr>
          <a:lstStyle/>
          <a:p>
            <a:pPr algn="ctr" eaLnBrk="1" fontAlgn="auto" hangingPunct="1">
              <a:spcBef>
                <a:spcPts val="0"/>
              </a:spcBef>
              <a:spcAft>
                <a:spcPts val="0"/>
              </a:spcAft>
              <a:defRPr/>
            </a:pPr>
            <a:r>
              <a:rPr lang="en-US" sz="2400" b="1" dirty="0">
                <a:solidFill>
                  <a:schemeClr val="accent6">
                    <a:lumMod val="50000"/>
                  </a:schemeClr>
                </a:solidFill>
              </a:rPr>
              <a:t>20EC280 –  Mini Project II</a:t>
            </a:r>
          </a:p>
          <a:p>
            <a:pPr algn="ctr" eaLnBrk="1" fontAlgn="auto" hangingPunct="1">
              <a:spcBef>
                <a:spcPts val="0"/>
              </a:spcBef>
              <a:spcAft>
                <a:spcPts val="0"/>
              </a:spcAft>
              <a:defRPr/>
            </a:pPr>
            <a:endParaRPr lang="en-US" sz="1200" b="1" dirty="0">
              <a:solidFill>
                <a:schemeClr val="accent2">
                  <a:lumMod val="75000"/>
                </a:schemeClr>
              </a:solidFill>
            </a:endParaRPr>
          </a:p>
          <a:p>
            <a:pPr algn="ctr" eaLnBrk="1" fontAlgn="auto" hangingPunct="1">
              <a:spcBef>
                <a:spcPts val="0"/>
              </a:spcBef>
              <a:spcAft>
                <a:spcPts val="0"/>
              </a:spcAft>
              <a:defRPr/>
            </a:pPr>
            <a:r>
              <a:rPr lang="en-US" sz="2800" b="1" dirty="0">
                <a:solidFill>
                  <a:srgbClr val="0070C0"/>
                </a:solidFill>
              </a:rPr>
              <a:t>“Development of </a:t>
            </a:r>
            <a:r>
              <a:rPr lang="en-US" sz="2800" b="1" dirty="0" err="1">
                <a:solidFill>
                  <a:srgbClr val="0070C0"/>
                </a:solidFill>
              </a:rPr>
              <a:t>Neuropatch</a:t>
            </a:r>
            <a:r>
              <a:rPr lang="en-US" sz="2800" b="1" dirty="0">
                <a:solidFill>
                  <a:srgbClr val="0070C0"/>
                </a:solidFill>
              </a:rPr>
              <a:t> : A Smart Skin Patch for Brain Monitoring and Response” </a:t>
            </a:r>
            <a:endParaRPr lang="en-US" sz="1200" b="1" dirty="0">
              <a:solidFill>
                <a:srgbClr val="002060"/>
              </a:solidFill>
            </a:endParaRPr>
          </a:p>
          <a:p>
            <a:pPr algn="ctr" eaLnBrk="1" fontAlgn="auto" hangingPunct="1">
              <a:spcBef>
                <a:spcPts val="0"/>
              </a:spcBef>
              <a:spcAft>
                <a:spcPts val="0"/>
              </a:spcAft>
              <a:defRPr/>
            </a:pPr>
            <a:endParaRPr lang="en-US" sz="1600" dirty="0">
              <a:solidFill>
                <a:schemeClr val="accent2">
                  <a:lumMod val="50000"/>
                </a:schemeClr>
              </a:solidFill>
            </a:endParaRPr>
          </a:p>
          <a:p>
            <a:pPr algn="ctr">
              <a:defRPr/>
            </a:pPr>
            <a:r>
              <a:rPr lang="en-US" sz="1600" b="1" dirty="0">
                <a:solidFill>
                  <a:schemeClr val="accent6">
                    <a:lumMod val="50000"/>
                  </a:schemeClr>
                </a:solidFill>
              </a:rPr>
              <a:t>SDG GOALS MAPPED Nos. : SDG 3</a:t>
            </a:r>
          </a:p>
          <a:p>
            <a:pPr algn="ctr" eaLnBrk="1" fontAlgn="auto" hangingPunct="1">
              <a:spcBef>
                <a:spcPts val="0"/>
              </a:spcBef>
              <a:spcAft>
                <a:spcPts val="0"/>
              </a:spcAft>
              <a:defRPr/>
            </a:pPr>
            <a:endParaRPr lang="en-US" sz="1600" dirty="0">
              <a:solidFill>
                <a:schemeClr val="accent2">
                  <a:lumMod val="50000"/>
                </a:schemeClr>
              </a:solidFill>
            </a:endParaRPr>
          </a:p>
          <a:p>
            <a:pPr algn="ctr" eaLnBrk="1" fontAlgn="auto" hangingPunct="1">
              <a:spcBef>
                <a:spcPts val="0"/>
              </a:spcBef>
              <a:spcAft>
                <a:spcPts val="0"/>
              </a:spcAft>
              <a:defRPr/>
            </a:pPr>
            <a:r>
              <a:rPr lang="en-US" sz="1600" dirty="0">
                <a:solidFill>
                  <a:schemeClr val="accent2">
                    <a:lumMod val="50000"/>
                  </a:schemeClr>
                </a:solidFill>
              </a:rPr>
              <a:t>Type of Project: Research </a:t>
            </a:r>
          </a:p>
          <a:p>
            <a:pPr algn="ctr" eaLnBrk="1" fontAlgn="auto" hangingPunct="1">
              <a:spcBef>
                <a:spcPts val="0"/>
              </a:spcBef>
              <a:spcAft>
                <a:spcPts val="0"/>
              </a:spcAft>
              <a:defRPr/>
            </a:pPr>
            <a:endParaRPr lang="en-US" sz="1600" b="1" dirty="0">
              <a:solidFill>
                <a:srgbClr val="002060"/>
              </a:solidFill>
            </a:endParaRPr>
          </a:p>
          <a:p>
            <a:pPr algn="ctr" eaLnBrk="1" fontAlgn="auto" hangingPunct="1">
              <a:spcBef>
                <a:spcPts val="0"/>
              </a:spcBef>
              <a:spcAft>
                <a:spcPts val="0"/>
              </a:spcAft>
              <a:defRPr/>
            </a:pPr>
            <a:r>
              <a:rPr lang="en-US" sz="2000" b="1" dirty="0">
                <a:solidFill>
                  <a:srgbClr val="FF0000"/>
                </a:solidFill>
              </a:rPr>
              <a:t>Presented by</a:t>
            </a:r>
          </a:p>
          <a:p>
            <a:pPr algn="ctr" eaLnBrk="1" fontAlgn="auto" hangingPunct="1">
              <a:spcBef>
                <a:spcPts val="0"/>
              </a:spcBef>
              <a:spcAft>
                <a:spcPts val="0"/>
              </a:spcAft>
              <a:defRPr/>
            </a:pPr>
            <a:r>
              <a:rPr lang="en-US" sz="2000" b="1" dirty="0">
                <a:solidFill>
                  <a:srgbClr val="002060"/>
                </a:solidFill>
              </a:rPr>
              <a:t>Pooja Nivethidha M – 71812302139</a:t>
            </a:r>
          </a:p>
          <a:p>
            <a:pPr algn="ctr">
              <a:defRPr/>
            </a:pPr>
            <a:r>
              <a:rPr lang="en-US" sz="2000" b="1" dirty="0">
                <a:solidFill>
                  <a:srgbClr val="002060"/>
                </a:solidFill>
              </a:rPr>
              <a:t>Preethi B – 71812302145</a:t>
            </a:r>
          </a:p>
          <a:p>
            <a:pPr algn="ctr">
              <a:defRPr/>
            </a:pPr>
            <a:r>
              <a:rPr lang="en-US" sz="2000" b="1" dirty="0">
                <a:solidFill>
                  <a:srgbClr val="002060"/>
                </a:solidFill>
              </a:rPr>
              <a:t>Priyadharshini H – 71812302149</a:t>
            </a:r>
          </a:p>
          <a:p>
            <a:pPr algn="ctr" eaLnBrk="1" fontAlgn="auto" hangingPunct="1">
              <a:spcBef>
                <a:spcPts val="0"/>
              </a:spcBef>
              <a:spcAft>
                <a:spcPts val="0"/>
              </a:spcAft>
              <a:defRPr/>
            </a:pPr>
            <a:endParaRPr lang="en-US" sz="2000" b="1" dirty="0">
              <a:solidFill>
                <a:srgbClr val="FF0000"/>
              </a:solidFill>
            </a:endParaRPr>
          </a:p>
          <a:p>
            <a:pPr algn="ctr" eaLnBrk="1" fontAlgn="auto" hangingPunct="1">
              <a:spcBef>
                <a:spcPts val="0"/>
              </a:spcBef>
              <a:spcAft>
                <a:spcPts val="0"/>
              </a:spcAft>
              <a:defRPr/>
            </a:pPr>
            <a:r>
              <a:rPr lang="en-US" sz="2000" b="1" dirty="0">
                <a:solidFill>
                  <a:srgbClr val="FF0000"/>
                </a:solidFill>
              </a:rPr>
              <a:t>Supervised by</a:t>
            </a:r>
          </a:p>
          <a:p>
            <a:pPr algn="ctr" eaLnBrk="1" fontAlgn="auto" hangingPunct="1">
              <a:spcBef>
                <a:spcPts val="0"/>
              </a:spcBef>
              <a:spcAft>
                <a:spcPts val="0"/>
              </a:spcAft>
              <a:defRPr/>
            </a:pPr>
            <a:r>
              <a:rPr lang="en-US" sz="2000" b="1" dirty="0" err="1">
                <a:solidFill>
                  <a:srgbClr val="00B050"/>
                </a:solidFill>
              </a:rPr>
              <a:t>Dr.R.Karthikamani</a:t>
            </a:r>
            <a:endParaRPr lang="en-US" sz="2000" b="1" dirty="0">
              <a:solidFill>
                <a:srgbClr val="00B050"/>
              </a:solidFill>
            </a:endParaRPr>
          </a:p>
          <a:p>
            <a:pPr algn="ctr" eaLnBrk="1" fontAlgn="auto" hangingPunct="1">
              <a:spcBef>
                <a:spcPts val="0"/>
              </a:spcBef>
              <a:spcAft>
                <a:spcPts val="0"/>
              </a:spcAft>
              <a:defRPr/>
            </a:pPr>
            <a:r>
              <a:rPr lang="en-US" sz="2000" b="1" dirty="0">
                <a:solidFill>
                  <a:srgbClr val="00B050"/>
                </a:solidFill>
              </a:rPr>
              <a:t>Assistant Professor(</a:t>
            </a:r>
            <a:r>
              <a:rPr lang="en-US" sz="2000" b="1" dirty="0" err="1">
                <a:solidFill>
                  <a:srgbClr val="00B050"/>
                </a:solidFill>
              </a:rPr>
              <a:t>Sl.G</a:t>
            </a:r>
            <a:r>
              <a:rPr lang="en-US" sz="2000" b="1" dirty="0">
                <a:solidFill>
                  <a:srgbClr val="00B050"/>
                </a:solidFill>
              </a:rPr>
              <a:t>)/ECE</a:t>
            </a:r>
          </a:p>
        </p:txBody>
      </p:sp>
      <p:sp>
        <p:nvSpPr>
          <p:cNvPr id="10" name="Rounded Rectangle 9"/>
          <p:cNvSpPr/>
          <p:nvPr/>
        </p:nvSpPr>
        <p:spPr>
          <a:xfrm>
            <a:off x="179388" y="1522412"/>
            <a:ext cx="1944340"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FF0000"/>
                </a:solidFill>
              </a:rPr>
              <a:t>Batch No</a:t>
            </a:r>
            <a:r>
              <a:rPr lang="en-US" dirty="0">
                <a:solidFill>
                  <a:srgbClr val="FF0000"/>
                </a:solidFill>
              </a:rPr>
              <a:t>: 3EC28</a:t>
            </a:r>
          </a:p>
        </p:txBody>
      </p:sp>
      <p:sp>
        <p:nvSpPr>
          <p:cNvPr id="11" name="Rounded Rectangle 10"/>
          <p:cNvSpPr/>
          <p:nvPr/>
        </p:nvSpPr>
        <p:spPr>
          <a:xfrm>
            <a:off x="323528" y="5954439"/>
            <a:ext cx="3414754"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C00000"/>
                </a:solidFill>
              </a:rPr>
              <a:t>Project viva-voce Examination</a:t>
            </a:r>
          </a:p>
          <a:p>
            <a:pPr>
              <a:defRPr/>
            </a:pPr>
            <a:r>
              <a:rPr lang="en-US" b="1" dirty="0">
                <a:solidFill>
                  <a:srgbClr val="C00000"/>
                </a:solidFill>
              </a:rPr>
              <a:t>Date               : 16.04.2026</a:t>
            </a:r>
            <a:endParaRPr lang="en-US" dirty="0">
              <a:solidFill>
                <a:srgbClr val="C00000"/>
              </a:solidFill>
            </a:endParaRPr>
          </a:p>
        </p:txBody>
      </p:sp>
    </p:spTree>
    <p:extLst>
      <p:ext uri="{BB962C8B-B14F-4D97-AF65-F5344CB8AC3E}">
        <p14:creationId xmlns:p14="http://schemas.microsoft.com/office/powerpoint/2010/main" val="765861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03A8B13-2D84-4CF8-A4DE-AA9E303C3B51}" type="datetime1">
              <a:rPr lang="en-IN" smtClean="0"/>
              <a:pPr/>
              <a:t>15-04-2026</a:t>
            </a:fld>
            <a:endParaRPr lang="en-IN" dirty="0"/>
          </a:p>
        </p:txBody>
      </p:sp>
      <p:sp>
        <p:nvSpPr>
          <p:cNvPr id="5" name="Footer Placeholder 4"/>
          <p:cNvSpPr>
            <a:spLocks noGrp="1"/>
          </p:cNvSpPr>
          <p:nvPr>
            <p:ph type="ftr" sz="quarter" idx="11"/>
          </p:nvPr>
        </p:nvSpPr>
        <p:spPr/>
        <p:txBody>
          <a:bodyPr/>
          <a:lstStyle/>
          <a:p>
            <a:r>
              <a:rPr lang="en-US" b="1" dirty="0"/>
              <a:t>SREC-MECH</a:t>
            </a:r>
            <a:endParaRPr lang="en-IN" b="1" dirty="0"/>
          </a:p>
        </p:txBody>
      </p:sp>
      <p:sp>
        <p:nvSpPr>
          <p:cNvPr id="7" name="Rectangle 6"/>
          <p:cNvSpPr/>
          <p:nvPr/>
        </p:nvSpPr>
        <p:spPr>
          <a:xfrm>
            <a:off x="1375625" y="302447"/>
            <a:ext cx="6111025" cy="523220"/>
          </a:xfrm>
          <a:prstGeom prst="rect">
            <a:avLst/>
          </a:prstGeom>
        </p:spPr>
        <p:txBody>
          <a:bodyPr wrap="square">
            <a:spAutoFit/>
          </a:bodyPr>
          <a:lstStyle/>
          <a:p>
            <a:pPr algn="ctr"/>
            <a:r>
              <a:rPr lang="en-IN" sz="2800" b="1" dirty="0">
                <a:solidFill>
                  <a:schemeClr val="accent6">
                    <a:lumMod val="50000"/>
                  </a:schemeClr>
                </a:solidFill>
                <a:latin typeface="Arial" panose="020B0604020202020204" pitchFamily="34" charset="0"/>
                <a:cs typeface="Arial" panose="020B0604020202020204" pitchFamily="34" charset="0"/>
              </a:rPr>
              <a:t>Contents</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sp>
        <p:nvSpPr>
          <p:cNvPr id="8" name="Subtitle 7"/>
          <p:cNvSpPr>
            <a:spLocks noGrp="1"/>
          </p:cNvSpPr>
          <p:nvPr>
            <p:ph type="subTitle" idx="1"/>
          </p:nvPr>
        </p:nvSpPr>
        <p:spPr/>
        <p:txBody>
          <a:bodyPr/>
          <a:lstStyle/>
          <a:p>
            <a:endParaRPr lang="en-IN"/>
          </a:p>
        </p:txBody>
      </p:sp>
      <p:graphicFrame>
        <p:nvGraphicFramePr>
          <p:cNvPr id="9" name="Content Placeholder 5"/>
          <p:cNvGraphicFramePr>
            <a:graphicFrameLocks/>
          </p:cNvGraphicFramePr>
          <p:nvPr>
            <p:extLst>
              <p:ext uri="{D42A27DB-BD31-4B8C-83A1-F6EECF244321}">
                <p14:modId xmlns:p14="http://schemas.microsoft.com/office/powerpoint/2010/main" val="203029523"/>
              </p:ext>
            </p:extLst>
          </p:nvPr>
        </p:nvGraphicFramePr>
        <p:xfrm>
          <a:off x="457200" y="1267500"/>
          <a:ext cx="8233933" cy="5358587"/>
        </p:xfrm>
        <a:graphic>
          <a:graphicData uri="http://schemas.openxmlformats.org/drawingml/2006/table">
            <a:tbl>
              <a:tblPr firstRow="1" bandRow="1">
                <a:tableStyleId>{5C22544A-7EE6-4342-B048-85BDC9FD1C3A}</a:tableStyleId>
              </a:tblPr>
              <a:tblGrid>
                <a:gridCol w="703580">
                  <a:extLst>
                    <a:ext uri="{9D8B030D-6E8A-4147-A177-3AD203B41FA5}">
                      <a16:colId xmlns:a16="http://schemas.microsoft.com/office/drawing/2014/main" val="20000"/>
                    </a:ext>
                  </a:extLst>
                </a:gridCol>
                <a:gridCol w="5791817">
                  <a:extLst>
                    <a:ext uri="{9D8B030D-6E8A-4147-A177-3AD203B41FA5}">
                      <a16:colId xmlns:a16="http://schemas.microsoft.com/office/drawing/2014/main" val="20001"/>
                    </a:ext>
                  </a:extLst>
                </a:gridCol>
                <a:gridCol w="1738536">
                  <a:extLst>
                    <a:ext uri="{9D8B030D-6E8A-4147-A177-3AD203B41FA5}">
                      <a16:colId xmlns:a16="http://schemas.microsoft.com/office/drawing/2014/main" val="20002"/>
                    </a:ext>
                  </a:extLst>
                </a:gridCol>
              </a:tblGrid>
              <a:tr h="370769">
                <a:tc>
                  <a:txBody>
                    <a:bodyPr/>
                    <a:lstStyle/>
                    <a:p>
                      <a:pPr algn="ctr"/>
                      <a:r>
                        <a:rPr lang="en-US" sz="1800" dirty="0" err="1">
                          <a:solidFill>
                            <a:srgbClr val="002060"/>
                          </a:solidFill>
                          <a:latin typeface="Times New Roman" panose="02020603050405020304" pitchFamily="18" charset="0"/>
                          <a:cs typeface="Times New Roman" panose="02020603050405020304" pitchFamily="18" charset="0"/>
                        </a:rPr>
                        <a:t>S.No</a:t>
                      </a:r>
                      <a:endParaRPr lang="en-US" sz="1800" dirty="0">
                        <a:solidFill>
                          <a:srgbClr val="002060"/>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Description</a:t>
                      </a:r>
                      <a:r>
                        <a:rPr lang="en-US" sz="1800" baseline="0" dirty="0">
                          <a:solidFill>
                            <a:srgbClr val="002060"/>
                          </a:solidFill>
                          <a:latin typeface="Times New Roman" panose="02020603050405020304" pitchFamily="18" charset="0"/>
                          <a:cs typeface="Times New Roman" panose="02020603050405020304" pitchFamily="18" charset="0"/>
                        </a:rPr>
                        <a:t> </a:t>
                      </a:r>
                      <a:endParaRPr lang="en-US" sz="1800" dirty="0">
                        <a:solidFill>
                          <a:srgbClr val="002060"/>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Slide Number</a:t>
                      </a:r>
                    </a:p>
                  </a:txBody>
                  <a:tcPr marT="45712" marB="45712"/>
                </a:tc>
                <a:extLst>
                  <a:ext uri="{0D108BD9-81ED-4DB2-BD59-A6C34878D82A}">
                    <a16:rowId xmlns:a16="http://schemas.microsoft.com/office/drawing/2014/main" val="10000"/>
                  </a:ext>
                </a:extLst>
              </a:tr>
              <a:tr h="370769">
                <a:tc>
                  <a:txBody>
                    <a:bodyPr/>
                    <a:lstStyle/>
                    <a:p>
                      <a:pPr algn="ctr"/>
                      <a:r>
                        <a:rPr lang="en-US" sz="1800">
                          <a:solidFill>
                            <a:srgbClr val="002060"/>
                          </a:solidFill>
                          <a:latin typeface="Times New Roman" panose="02020603050405020304" pitchFamily="18" charset="0"/>
                          <a:cs typeface="Times New Roman" panose="02020603050405020304" pitchFamily="18" charset="0"/>
                        </a:rPr>
                        <a:t>1</a:t>
                      </a:r>
                      <a:endParaRPr lang="en-US" sz="1800" dirty="0">
                        <a:solidFill>
                          <a:srgbClr val="002060"/>
                        </a:solidFill>
                        <a:latin typeface="Times New Roman" panose="02020603050405020304" pitchFamily="18" charset="0"/>
                        <a:cs typeface="Times New Roman" panose="02020603050405020304" pitchFamily="18" charset="0"/>
                      </a:endParaRPr>
                    </a:p>
                  </a:txBody>
                  <a:tcPr marT="45712" marB="45712"/>
                </a:tc>
                <a:tc>
                  <a:txBody>
                    <a:bodyPr/>
                    <a:lstStyle/>
                    <a:p>
                      <a:r>
                        <a:rPr lang="en-US" sz="1800" dirty="0">
                          <a:solidFill>
                            <a:srgbClr val="002060"/>
                          </a:solidFill>
                          <a:latin typeface="Times New Roman" panose="02020603050405020304" pitchFamily="18" charset="0"/>
                          <a:cs typeface="Times New Roman" panose="02020603050405020304" pitchFamily="18" charset="0"/>
                        </a:rPr>
                        <a:t>Introduction</a:t>
                      </a: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3</a:t>
                      </a:r>
                    </a:p>
                  </a:txBody>
                  <a:tcPr marT="45712" marB="45712"/>
                </a:tc>
                <a:extLst>
                  <a:ext uri="{0D108BD9-81ED-4DB2-BD59-A6C34878D82A}">
                    <a16:rowId xmlns:a16="http://schemas.microsoft.com/office/drawing/2014/main" val="10001"/>
                  </a:ext>
                </a:extLst>
              </a:tr>
              <a:tr h="370769">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2</a:t>
                      </a:r>
                    </a:p>
                  </a:txBody>
                  <a:tcPr marT="45712" marB="45712"/>
                </a:tc>
                <a:tc>
                  <a:txBody>
                    <a:bodyPr/>
                    <a:lstStyle/>
                    <a:p>
                      <a:r>
                        <a:rPr lang="en-US" sz="1800" dirty="0">
                          <a:solidFill>
                            <a:srgbClr val="002060"/>
                          </a:solidFill>
                          <a:latin typeface="Times New Roman" panose="02020603050405020304" pitchFamily="18" charset="0"/>
                          <a:cs typeface="Times New Roman" panose="02020603050405020304" pitchFamily="18" charset="0"/>
                        </a:rPr>
                        <a:t>Literature Survey</a:t>
                      </a: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4-8</a:t>
                      </a:r>
                    </a:p>
                  </a:txBody>
                  <a:tcPr marT="45712" marB="45712"/>
                </a:tc>
                <a:extLst>
                  <a:ext uri="{0D108BD9-81ED-4DB2-BD59-A6C34878D82A}">
                    <a16:rowId xmlns:a16="http://schemas.microsoft.com/office/drawing/2014/main" val="10002"/>
                  </a:ext>
                </a:extLst>
              </a:tr>
              <a:tr h="370769">
                <a:tc>
                  <a:txBody>
                    <a:bodyPr/>
                    <a:lstStyle/>
                    <a:p>
                      <a:pPr algn="ctr"/>
                      <a:r>
                        <a:rPr lang="en-US" sz="1800">
                          <a:solidFill>
                            <a:srgbClr val="002060"/>
                          </a:solidFill>
                          <a:latin typeface="Times New Roman" panose="02020603050405020304" pitchFamily="18" charset="0"/>
                          <a:cs typeface="Times New Roman" panose="02020603050405020304" pitchFamily="18" charset="0"/>
                        </a:rPr>
                        <a:t>3</a:t>
                      </a:r>
                      <a:endParaRPr lang="en-US" sz="1800" dirty="0">
                        <a:solidFill>
                          <a:srgbClr val="002060"/>
                        </a:solidFill>
                        <a:latin typeface="Times New Roman" panose="02020603050405020304" pitchFamily="18" charset="0"/>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Problem</a:t>
                      </a:r>
                      <a:r>
                        <a:rPr lang="en-US" sz="1800" baseline="0" dirty="0">
                          <a:solidFill>
                            <a:srgbClr val="002060"/>
                          </a:solidFill>
                          <a:latin typeface="Times New Roman" panose="02020603050405020304" pitchFamily="18" charset="0"/>
                          <a:cs typeface="Times New Roman" panose="02020603050405020304" pitchFamily="18" charset="0"/>
                        </a:rPr>
                        <a:t> identification, scope and objective</a:t>
                      </a:r>
                      <a:r>
                        <a:rPr lang="en-US" sz="1800" kern="1200" dirty="0">
                          <a:solidFill>
                            <a:srgbClr val="002060"/>
                          </a:solidFill>
                          <a:latin typeface="Times New Roman" panose="02020603050405020304" pitchFamily="18" charset="0"/>
                          <a:ea typeface="+mn-ea"/>
                          <a:cs typeface="Times New Roman" panose="02020603050405020304" pitchFamily="18" charset="0"/>
                        </a:rPr>
                        <a:t> </a:t>
                      </a:r>
                      <a:endParaRPr lang="en-IN" sz="1800" kern="1200" dirty="0">
                        <a:solidFill>
                          <a:srgbClr val="002060"/>
                        </a:solidFill>
                        <a:latin typeface="Times New Roman" panose="02020603050405020304" pitchFamily="18" charset="0"/>
                        <a:ea typeface="+mn-ea"/>
                        <a:cs typeface="Times New Roman" panose="02020603050405020304" pitchFamily="18" charset="0"/>
                      </a:endParaRP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9-10</a:t>
                      </a:r>
                    </a:p>
                  </a:txBody>
                  <a:tcPr marT="45712" marB="45712"/>
                </a:tc>
                <a:extLst>
                  <a:ext uri="{0D108BD9-81ED-4DB2-BD59-A6C34878D82A}">
                    <a16:rowId xmlns:a16="http://schemas.microsoft.com/office/drawing/2014/main" val="10003"/>
                  </a:ext>
                </a:extLst>
              </a:tr>
              <a:tr h="370769">
                <a:tc>
                  <a:txBody>
                    <a:bodyPr/>
                    <a:lstStyle/>
                    <a:p>
                      <a:pPr algn="ctr"/>
                      <a:r>
                        <a:rPr lang="en-US" sz="1800">
                          <a:solidFill>
                            <a:srgbClr val="002060"/>
                          </a:solidFill>
                          <a:latin typeface="Times New Roman" panose="02020603050405020304" pitchFamily="18" charset="0"/>
                          <a:cs typeface="Times New Roman" panose="02020603050405020304" pitchFamily="18" charset="0"/>
                        </a:rPr>
                        <a:t>4</a:t>
                      </a:r>
                      <a:endParaRPr lang="en-US" sz="1800" dirty="0">
                        <a:solidFill>
                          <a:srgbClr val="002060"/>
                        </a:solidFill>
                        <a:latin typeface="Times New Roman" panose="02020603050405020304" pitchFamily="18" charset="0"/>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Existing technology of the project</a:t>
                      </a: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11-12</a:t>
                      </a:r>
                    </a:p>
                  </a:txBody>
                  <a:tcPr marT="45712" marB="45712"/>
                </a:tc>
                <a:extLst>
                  <a:ext uri="{0D108BD9-81ED-4DB2-BD59-A6C34878D82A}">
                    <a16:rowId xmlns:a16="http://schemas.microsoft.com/office/drawing/2014/main" val="10004"/>
                  </a:ext>
                </a:extLst>
              </a:tr>
              <a:tr h="370769">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5</a:t>
                      </a:r>
                    </a:p>
                  </a:txBody>
                  <a:tcPr marT="45712" marB="45712"/>
                </a:tc>
                <a:tc>
                  <a:txBody>
                    <a:bodyPr/>
                    <a:lstStyle/>
                    <a:p>
                      <a:r>
                        <a:rPr lang="en-US" sz="1800" dirty="0">
                          <a:solidFill>
                            <a:srgbClr val="002060"/>
                          </a:solidFill>
                          <a:latin typeface="Times New Roman" panose="02020603050405020304" pitchFamily="18" charset="0"/>
                          <a:cs typeface="Times New Roman" panose="02020603050405020304" pitchFamily="18" charset="0"/>
                        </a:rPr>
                        <a:t>Methodology (Flow Diagrams)</a:t>
                      </a:r>
                      <a:endParaRPr lang="en-IN" dirty="0">
                        <a:solidFill>
                          <a:srgbClr val="002060"/>
                        </a:solidFill>
                      </a:endParaRP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rgbClr val="002060"/>
                          </a:solidFill>
                          <a:latin typeface="Times New Roman" panose="02020603050405020304" pitchFamily="18" charset="0"/>
                          <a:ea typeface="+mn-ea"/>
                          <a:cs typeface="Times New Roman" panose="02020603050405020304" pitchFamily="18" charset="0"/>
                        </a:rPr>
                        <a:t>13</a:t>
                      </a:r>
                      <a:endParaRPr lang="en-IN" sz="1800" kern="1200" dirty="0">
                        <a:solidFill>
                          <a:srgbClr val="002060"/>
                        </a:solidFill>
                        <a:latin typeface="Times New Roman" panose="02020603050405020304" pitchFamily="18" charset="0"/>
                        <a:ea typeface="+mn-ea"/>
                        <a:cs typeface="Times New Roman" panose="02020603050405020304" pitchFamily="18" charset="0"/>
                      </a:endParaRPr>
                    </a:p>
                  </a:txBody>
                  <a:tcPr marT="45712" marB="45712"/>
                </a:tc>
                <a:extLst>
                  <a:ext uri="{0D108BD9-81ED-4DB2-BD59-A6C34878D82A}">
                    <a16:rowId xmlns:a16="http://schemas.microsoft.com/office/drawing/2014/main" val="10005"/>
                  </a:ext>
                </a:extLst>
              </a:tr>
              <a:tr h="370769">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6</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Design,</a:t>
                      </a:r>
                      <a:r>
                        <a:rPr lang="en-US" sz="1800" baseline="0" dirty="0">
                          <a:solidFill>
                            <a:srgbClr val="00206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Experimentation, Coding etc.- Technical feasibility</a:t>
                      </a: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14-17</a:t>
                      </a:r>
                    </a:p>
                  </a:txBody>
                  <a:tcPr marT="45712" marB="45712"/>
                </a:tc>
                <a:extLst>
                  <a:ext uri="{0D108BD9-81ED-4DB2-BD59-A6C34878D82A}">
                    <a16:rowId xmlns:a16="http://schemas.microsoft.com/office/drawing/2014/main" val="10006"/>
                  </a:ext>
                </a:extLst>
              </a:tr>
              <a:tr h="370769">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7</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Costing </a:t>
                      </a:r>
                      <a:r>
                        <a:rPr lang="en-US" sz="1800" baseline="0" dirty="0">
                          <a:solidFill>
                            <a:srgbClr val="002060"/>
                          </a:solidFill>
                          <a:latin typeface="Times New Roman" panose="02020603050405020304" pitchFamily="18" charset="0"/>
                          <a:cs typeface="Times New Roman" panose="02020603050405020304" pitchFamily="18" charset="0"/>
                        </a:rPr>
                        <a:t>&amp; Financial feasibility compared to existing model / technology</a:t>
                      </a:r>
                      <a:endParaRPr lang="en-US" sz="1800" dirty="0">
                        <a:solidFill>
                          <a:srgbClr val="002060"/>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18</a:t>
                      </a:r>
                    </a:p>
                  </a:txBody>
                  <a:tcPr marT="45712" marB="45712"/>
                </a:tc>
                <a:extLst>
                  <a:ext uri="{0D108BD9-81ED-4DB2-BD59-A6C34878D82A}">
                    <a16:rowId xmlns:a16="http://schemas.microsoft.com/office/drawing/2014/main" val="10007"/>
                  </a:ext>
                </a:extLst>
              </a:tr>
              <a:tr h="370769">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8</a:t>
                      </a:r>
                    </a:p>
                  </a:txBody>
                  <a:tcPr marT="45712" marB="45712"/>
                </a:tc>
                <a:tc>
                  <a:txBody>
                    <a:bodyPr/>
                    <a:lstStyle/>
                    <a:p>
                      <a:r>
                        <a:rPr lang="en-US" sz="1800" dirty="0">
                          <a:solidFill>
                            <a:srgbClr val="002060"/>
                          </a:solidFill>
                          <a:latin typeface="Times New Roman" panose="02020603050405020304" pitchFamily="18" charset="0"/>
                          <a:cs typeface="Times New Roman" panose="02020603050405020304" pitchFamily="18" charset="0"/>
                        </a:rPr>
                        <a:t>Results and Discussion </a:t>
                      </a: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19-20</a:t>
                      </a:r>
                    </a:p>
                  </a:txBody>
                  <a:tcPr marT="45712" marB="45712"/>
                </a:tc>
                <a:extLst>
                  <a:ext uri="{0D108BD9-81ED-4DB2-BD59-A6C34878D82A}">
                    <a16:rowId xmlns:a16="http://schemas.microsoft.com/office/drawing/2014/main" val="10008"/>
                  </a:ext>
                </a:extLst>
              </a:tr>
              <a:tr h="370769">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9</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Scope for future Work</a:t>
                      </a: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21</a:t>
                      </a:r>
                    </a:p>
                  </a:txBody>
                  <a:tcPr marT="45712" marB="45712"/>
                </a:tc>
                <a:extLst>
                  <a:ext uri="{0D108BD9-81ED-4DB2-BD59-A6C34878D82A}">
                    <a16:rowId xmlns:a16="http://schemas.microsoft.com/office/drawing/2014/main" val="10009"/>
                  </a:ext>
                </a:extLst>
              </a:tr>
              <a:tr h="370769">
                <a:tc>
                  <a:txBody>
                    <a:bodyPr/>
                    <a:lstStyle/>
                    <a:p>
                      <a:pPr marL="0" algn="ctr" defTabSz="914400" rtl="0" eaLnBrk="1" latinLnBrk="0" hangingPunct="1"/>
                      <a:r>
                        <a:rPr lang="en-US" sz="1800" kern="1200" dirty="0">
                          <a:solidFill>
                            <a:srgbClr val="002060"/>
                          </a:solidFill>
                          <a:latin typeface="Times New Roman" panose="02020603050405020304" pitchFamily="18" charset="0"/>
                          <a:ea typeface="+mn-ea"/>
                          <a:cs typeface="Times New Roman" panose="02020603050405020304" pitchFamily="18" charset="0"/>
                        </a:rPr>
                        <a:t>10</a:t>
                      </a:r>
                      <a:endParaRPr lang="en-IN" sz="1800" kern="1200" dirty="0">
                        <a:solidFill>
                          <a:srgbClr val="002060"/>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Outcome of the Projects</a:t>
                      </a: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22</a:t>
                      </a:r>
                    </a:p>
                  </a:txBody>
                  <a:tcPr marT="45712" marB="45712"/>
                </a:tc>
                <a:extLst>
                  <a:ext uri="{0D108BD9-81ED-4DB2-BD59-A6C34878D82A}">
                    <a16:rowId xmlns:a16="http://schemas.microsoft.com/office/drawing/2014/main" val="10010"/>
                  </a:ext>
                </a:extLst>
              </a:tr>
              <a:tr h="370769">
                <a:tc>
                  <a:txBody>
                    <a:bodyPr/>
                    <a:lstStyle/>
                    <a:p>
                      <a:pPr marL="0" algn="ctr" defTabSz="914400" rtl="0" eaLnBrk="1" latinLnBrk="0" hangingPunct="1"/>
                      <a:r>
                        <a:rPr lang="en-US" sz="1800" kern="1200" dirty="0">
                          <a:solidFill>
                            <a:srgbClr val="002060"/>
                          </a:solidFill>
                          <a:latin typeface="Times New Roman" panose="02020603050405020304" pitchFamily="18" charset="0"/>
                          <a:ea typeface="+mn-ea"/>
                          <a:cs typeface="Times New Roman" panose="02020603050405020304" pitchFamily="18" charset="0"/>
                        </a:rPr>
                        <a:t>11</a:t>
                      </a:r>
                      <a:endParaRPr lang="en-IN" sz="1800" kern="1200" dirty="0">
                        <a:solidFill>
                          <a:srgbClr val="002060"/>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Participation in events (Patent,</a:t>
                      </a:r>
                      <a:r>
                        <a:rPr lang="en-US" sz="1800" baseline="0" dirty="0">
                          <a:solidFill>
                            <a:srgbClr val="002060"/>
                          </a:solidFill>
                          <a:latin typeface="Times New Roman" panose="02020603050405020304" pitchFamily="18" charset="0"/>
                          <a:cs typeface="Times New Roman" panose="02020603050405020304" pitchFamily="18" charset="0"/>
                        </a:rPr>
                        <a:t> Paper, </a:t>
                      </a:r>
                      <a:r>
                        <a:rPr lang="en-US" sz="1800" baseline="0" dirty="0" err="1">
                          <a:solidFill>
                            <a:srgbClr val="002060"/>
                          </a:solidFill>
                          <a:latin typeface="Times New Roman" panose="02020603050405020304" pitchFamily="18" charset="0"/>
                          <a:cs typeface="Times New Roman" panose="02020603050405020304" pitchFamily="18" charset="0"/>
                        </a:rPr>
                        <a:t>Hackatons</a:t>
                      </a:r>
                      <a:r>
                        <a:rPr lang="en-US" sz="1800" baseline="0" dirty="0">
                          <a:solidFill>
                            <a:srgbClr val="002060"/>
                          </a:solidFill>
                          <a:latin typeface="Times New Roman" panose="02020603050405020304" pitchFamily="18" charset="0"/>
                          <a:cs typeface="Times New Roman" panose="02020603050405020304" pitchFamily="18" charset="0"/>
                        </a:rPr>
                        <a:t> etc.,) – applied / published / granted </a:t>
                      </a:r>
                      <a:endParaRPr lang="en-US" sz="1800" dirty="0">
                        <a:solidFill>
                          <a:srgbClr val="002060"/>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23</a:t>
                      </a:r>
                    </a:p>
                  </a:txBody>
                  <a:tcPr marT="45712" marB="45712"/>
                </a:tc>
                <a:extLst>
                  <a:ext uri="{0D108BD9-81ED-4DB2-BD59-A6C34878D82A}">
                    <a16:rowId xmlns:a16="http://schemas.microsoft.com/office/drawing/2014/main" val="10011"/>
                  </a:ext>
                </a:extLst>
              </a:tr>
              <a:tr h="370769">
                <a:tc>
                  <a:txBody>
                    <a:bodyPr/>
                    <a:lstStyle/>
                    <a:p>
                      <a:pPr marL="0" algn="ctr" defTabSz="914400" rtl="0" eaLnBrk="1" latinLnBrk="0" hangingPunct="1"/>
                      <a:r>
                        <a:rPr lang="en-US" sz="1800" kern="1200" dirty="0">
                          <a:solidFill>
                            <a:srgbClr val="002060"/>
                          </a:solidFill>
                          <a:latin typeface="Times New Roman" panose="02020603050405020304" pitchFamily="18" charset="0"/>
                          <a:ea typeface="+mn-ea"/>
                          <a:cs typeface="Times New Roman" panose="02020603050405020304" pitchFamily="18" charset="0"/>
                        </a:rPr>
                        <a:t>12</a:t>
                      </a:r>
                      <a:endParaRPr lang="en-IN" sz="1800" kern="1200" dirty="0">
                        <a:solidFill>
                          <a:srgbClr val="002060"/>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Times New Roman" panose="02020603050405020304" pitchFamily="18" charset="0"/>
                          <a:cs typeface="Times New Roman" panose="02020603050405020304" pitchFamily="18" charset="0"/>
                        </a:rPr>
                        <a:t>SDG Goals &amp; References</a:t>
                      </a:r>
                    </a:p>
                  </a:txBody>
                  <a:tcPr marT="45712" marB="45712"/>
                </a:tc>
                <a:tc>
                  <a:txBody>
                    <a:bodyPr/>
                    <a:lstStyle/>
                    <a:p>
                      <a:pPr algn="ctr"/>
                      <a:r>
                        <a:rPr lang="en-US" sz="1800" dirty="0">
                          <a:solidFill>
                            <a:srgbClr val="002060"/>
                          </a:solidFill>
                          <a:latin typeface="Times New Roman" panose="02020603050405020304" pitchFamily="18" charset="0"/>
                          <a:cs typeface="Times New Roman" panose="02020603050405020304" pitchFamily="18" charset="0"/>
                        </a:rPr>
                        <a:t>24</a:t>
                      </a:r>
                    </a:p>
                  </a:txBody>
                  <a:tcPr marT="45712" marB="45712"/>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9850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r>
              <a:rPr lang="en-US" sz="2000" dirty="0">
                <a:latin typeface="Times New Roman" panose="02020603050405020304" pitchFamily="18" charset="0"/>
                <a:cs typeface="Times New Roman" panose="02020603050405020304" pitchFamily="18" charset="0"/>
              </a:rPr>
              <a:t>Traditional brain monitoring systems rely on bulky EEG headsets and hospital-based wired setups, which limit patient mobility and real-time application.</a:t>
            </a:r>
          </a:p>
          <a:p>
            <a:pPr algn="just"/>
            <a:r>
              <a:rPr lang="en-US" sz="2000" dirty="0">
                <a:latin typeface="Times New Roman" panose="02020603050405020304" pitchFamily="18" charset="0"/>
                <a:cs typeface="Times New Roman" panose="02020603050405020304" pitchFamily="18" charset="0"/>
              </a:rPr>
              <a:t> •Current diagnostic approaches for neurological conditions like paralysis, seizures, coma stages, and Alzheimer’s disease often require manual EEG interpretation, resulting in delayed response and limited accessibility.</a:t>
            </a:r>
          </a:p>
          <a:p>
            <a:pPr algn="just"/>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NeuroPatch</a:t>
            </a:r>
            <a:r>
              <a:rPr lang="en-US" sz="2000" dirty="0">
                <a:latin typeface="Times New Roman" panose="02020603050405020304" pitchFamily="18" charset="0"/>
                <a:cs typeface="Times New Roman" panose="02020603050405020304" pitchFamily="18" charset="0"/>
              </a:rPr>
              <a:t>” proposes a smart, non-invasive skin patch integrated with EEG sensors and AI models to enable real-time brain signal monitoring and automated detection. </a:t>
            </a:r>
          </a:p>
          <a:p>
            <a:pPr algn="just"/>
            <a:r>
              <a:rPr lang="en-US" sz="2000" dirty="0">
                <a:latin typeface="Times New Roman" panose="02020603050405020304" pitchFamily="18" charset="0"/>
                <a:cs typeface="Times New Roman" panose="02020603050405020304" pitchFamily="18" charset="0"/>
              </a:rPr>
              <a:t>•The project applies deep learning models like CNN and LSTM trained on EEG datasets to identify abnormal neural patterns linked to specific conditions.</a:t>
            </a:r>
          </a:p>
          <a:p>
            <a:pPr algn="just"/>
            <a:r>
              <a:rPr lang="en-US" sz="2000" dirty="0">
                <a:latin typeface="Times New Roman" panose="02020603050405020304" pitchFamily="18" charset="0"/>
                <a:cs typeface="Times New Roman" panose="02020603050405020304" pitchFamily="18" charset="0"/>
              </a:rPr>
              <a:t> •The methodology includes EEG data collection using wearable sensors, preprocessing and feature extraction , model training with deep learning, hardware integration with microcontrollers, and mobile-based alert systems.</a:t>
            </a:r>
          </a:p>
          <a:p>
            <a:pPr algn="just"/>
            <a:r>
              <a:rPr lang="en-US" sz="2000" dirty="0">
                <a:latin typeface="Times New Roman" panose="02020603050405020304" pitchFamily="18" charset="0"/>
                <a:cs typeface="Times New Roman" panose="02020603050405020304" pitchFamily="18" charset="0"/>
              </a:rPr>
              <a:t> •The system is tested through simulation and real-time signal input, offering high accuracy, portability, and a proactive approach to brain health management.</a:t>
            </a:r>
            <a:endParaRPr lang="en-US" sz="2000" dirty="0">
              <a:solidFill>
                <a:srgbClr val="FF0000"/>
              </a:solidFill>
              <a:latin typeface="Times New Roman" panose="02020603050405020304" pitchFamily="18" charset="0"/>
              <a:cs typeface="Times New Roman" panose="02020603050405020304" pitchFamily="18" charset="0"/>
            </a:endParaRPr>
          </a:p>
          <a:p>
            <a:pPr algn="just"/>
            <a:endParaRPr lang="en-IN" sz="2000"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03A8B13-2D84-4CF8-A4DE-AA9E303C3B51}" type="datetime1">
              <a:rPr lang="en-IN" smtClean="0"/>
              <a:pPr/>
              <a:t>15-04-2026</a:t>
            </a:fld>
            <a:endParaRPr lang="en-IN" dirty="0"/>
          </a:p>
        </p:txBody>
      </p:sp>
      <p:sp>
        <p:nvSpPr>
          <p:cNvPr id="5" name="Footer Placeholder 4"/>
          <p:cNvSpPr>
            <a:spLocks noGrp="1"/>
          </p:cNvSpPr>
          <p:nvPr>
            <p:ph type="ftr" sz="quarter" idx="11"/>
          </p:nvPr>
        </p:nvSpPr>
        <p:spPr/>
        <p:txBody>
          <a:bodyPr/>
          <a:lstStyle/>
          <a:p>
            <a:r>
              <a:rPr lang="en-US" b="1" dirty="0"/>
              <a:t>SREC-MECH</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US" sz="2800" b="1" dirty="0">
                <a:solidFill>
                  <a:schemeClr val="accent6">
                    <a:lumMod val="50000"/>
                  </a:schemeClr>
                </a:solidFill>
                <a:latin typeface="Arial" panose="020B0604020202020204" pitchFamily="34" charset="0"/>
                <a:cs typeface="Arial" panose="020B0604020202020204" pitchFamily="34" charset="0"/>
              </a:rPr>
              <a:t>Introduction</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83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defRPr/>
            </a:pPr>
            <a:endParaRPr lang="en-US" sz="2000" dirty="0">
              <a:solidFill>
                <a:srgbClr val="002060"/>
              </a:solidFill>
            </a:endParaRPr>
          </a:p>
          <a:p>
            <a:pPr>
              <a:defRPr/>
            </a:pPr>
            <a:endParaRPr lang="en-US" sz="2000" dirty="0">
              <a:solidFill>
                <a:srgbClr val="002060"/>
              </a:solidFill>
            </a:endParaRPr>
          </a:p>
          <a:p>
            <a:pPr>
              <a:defRPr/>
            </a:pPr>
            <a:endParaRPr lang="en-US" sz="2000" dirty="0">
              <a:solidFill>
                <a:srgbClr val="002060"/>
              </a:solidFill>
            </a:endParaRPr>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b="1" dirty="0">
              <a:solidFill>
                <a:srgbClr val="002060"/>
              </a:solidFill>
            </a:endParaRPr>
          </a:p>
          <a:p>
            <a:pPr algn="just">
              <a:defRPr/>
            </a:pPr>
            <a:r>
              <a:rPr lang="en-US" sz="2000" b="1" dirty="0">
                <a:solidFill>
                  <a:srgbClr val="002060"/>
                </a:solidFill>
              </a:rPr>
              <a:t>Source:</a:t>
            </a:r>
          </a:p>
          <a:p>
            <a:pPr algn="just">
              <a:defRPr/>
            </a:pPr>
            <a:r>
              <a:rPr lang="en-US" sz="2000" dirty="0"/>
              <a:t>“ A Sleep Stage-Decoding Forehead EEG Patch for Real-time Modulation of Sleep “,William G. Coon, Preston </a:t>
            </a:r>
            <a:r>
              <a:rPr lang="en-US" sz="2000" dirty="0" err="1"/>
              <a:t>Peranich</a:t>
            </a:r>
            <a:r>
              <a:rPr lang="en-US" sz="2000" dirty="0"/>
              <a:t>, and Griffin </a:t>
            </a:r>
            <a:r>
              <a:rPr lang="en-US" sz="2000" dirty="0" err="1"/>
              <a:t>Milsap,Not</a:t>
            </a:r>
            <a:r>
              <a:rPr lang="en-US" sz="2000" dirty="0"/>
              <a:t> published in a peer reviewed journal yet ,2025 (Version 2 posted on 6 June 2025),As it is on </a:t>
            </a:r>
            <a:r>
              <a:rPr lang="en-US" sz="2000" dirty="0" err="1"/>
              <a:t>arXiv</a:t>
            </a:r>
            <a:r>
              <a:rPr lang="en-US" sz="2000" dirty="0"/>
              <a:t>, it is not indexed in Scopus. However, authors may submit it to a journal later for peer-reviewed publication and indexing.</a:t>
            </a:r>
            <a:endParaRPr lang="en-US" sz="2000" dirty="0">
              <a:solidFill>
                <a:srgbClr val="00B05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03A8B13-2D84-4CF8-A4DE-AA9E303C3B51}" type="datetime1">
              <a:rPr lang="en-IN" smtClean="0"/>
              <a:pPr/>
              <a:t>15-04-2026</a:t>
            </a:fld>
            <a:endParaRPr lang="en-IN" dirty="0"/>
          </a:p>
        </p:txBody>
      </p:sp>
      <p:sp>
        <p:nvSpPr>
          <p:cNvPr id="5" name="Footer Placeholder 4"/>
          <p:cNvSpPr>
            <a:spLocks noGrp="1"/>
          </p:cNvSpPr>
          <p:nvPr>
            <p:ph type="ftr" sz="quarter" idx="11"/>
          </p:nvPr>
        </p:nvSpPr>
        <p:spPr/>
        <p:txBody>
          <a:bodyPr/>
          <a:lstStyle/>
          <a:p>
            <a:r>
              <a:rPr lang="en-US" b="1" dirty="0"/>
              <a:t>SREC-MECH</a:t>
            </a:r>
            <a:endParaRPr lang="en-IN" b="1" dirty="0"/>
          </a:p>
        </p:txBody>
      </p:sp>
      <p:sp>
        <p:nvSpPr>
          <p:cNvPr id="6" name="Slide Number Placeholder 5"/>
          <p:cNvSpPr>
            <a:spLocks noGrp="1"/>
          </p:cNvSpPr>
          <p:nvPr>
            <p:ph type="sldNum" sz="quarter" idx="12"/>
          </p:nvPr>
        </p:nvSpPr>
        <p:spPr/>
        <p:txBody>
          <a:bodyPr/>
          <a:lstStyle/>
          <a:p>
            <a:r>
              <a:rPr lang="en-US" dirty="0"/>
              <a:t>4</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US" altLang="en-US" sz="2800" b="1" dirty="0">
                <a:solidFill>
                  <a:srgbClr val="7030A0"/>
                </a:solidFill>
                <a:latin typeface="Arial" panose="020B0604020202020204" pitchFamily="34" charset="0"/>
                <a:cs typeface="Arial" panose="020B0604020202020204" pitchFamily="34" charset="0"/>
              </a:rPr>
              <a:t>Literature Survey – 01</a:t>
            </a:r>
            <a:endParaRPr lang="en-IN" sz="2800" dirty="0">
              <a:solidFill>
                <a:srgbClr val="660066"/>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4FD1E209-07DA-5937-3BED-7905D7750AE7}"/>
              </a:ext>
            </a:extLst>
          </p:cNvPr>
          <p:cNvPicPr>
            <a:picLocks noChangeAspect="1"/>
          </p:cNvPicPr>
          <p:nvPr/>
        </p:nvPicPr>
        <p:blipFill>
          <a:blip r:embed="rId2"/>
          <a:stretch>
            <a:fillRect/>
          </a:stretch>
        </p:blipFill>
        <p:spPr>
          <a:xfrm>
            <a:off x="532286" y="1770274"/>
            <a:ext cx="7983064" cy="2286319"/>
          </a:xfrm>
          <a:prstGeom prst="rect">
            <a:avLst/>
          </a:prstGeom>
        </p:spPr>
      </p:pic>
    </p:spTree>
    <p:extLst>
      <p:ext uri="{BB962C8B-B14F-4D97-AF65-F5344CB8AC3E}">
        <p14:creationId xmlns:p14="http://schemas.microsoft.com/office/powerpoint/2010/main" val="2706406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- 02</a:t>
            </a:r>
          </a:p>
        </p:txBody>
      </p:sp>
      <p:sp>
        <p:nvSpPr>
          <p:cNvPr id="9219" name="Content Placeholder 2"/>
          <p:cNvSpPr>
            <a:spLocks noGrp="1"/>
          </p:cNvSpPr>
          <p:nvPr>
            <p:ph idx="1"/>
          </p:nvPr>
        </p:nvSpPr>
        <p:spPr/>
        <p:txBody>
          <a:bodyPr>
            <a:normAutofit fontScale="850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None/>
              <a:defRPr/>
            </a:pPr>
            <a:r>
              <a:rPr lang="en-US" sz="2400" b="1" dirty="0">
                <a:solidFill>
                  <a:srgbClr val="002060"/>
                </a:solidFill>
              </a:rPr>
              <a:t>Source:</a:t>
            </a:r>
          </a:p>
          <a:p>
            <a:pPr marL="0" indent="0" algn="just">
              <a:buNone/>
              <a:defRPr/>
            </a:pPr>
            <a:r>
              <a:rPr lang="en-IN" sz="2400" dirty="0" err="1"/>
              <a:t>ADMarker</a:t>
            </a:r>
            <a:r>
              <a:rPr lang="en-IN" sz="2400" dirty="0"/>
              <a:t>: A Multi-Modal Federated Learning System for Monitoring Digital Biomarkers of Alzheimer's Disease” , Xiaomin Ouyang et al., ACM </a:t>
            </a:r>
            <a:r>
              <a:rPr lang="en-IN" sz="2400" dirty="0" err="1"/>
              <a:t>MobiCom</a:t>
            </a:r>
            <a:r>
              <a:rPr lang="en-IN" sz="2400" dirty="0"/>
              <a:t> ’24, 1 16, 2024 , 10.1145/3636534.3649370, Yes </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5</a:t>
            </a:fld>
            <a:endParaRPr lang="en-IN" altLang="en-US" sz="1200">
              <a:solidFill>
                <a:srgbClr val="898989"/>
              </a:solidFill>
            </a:endParaRPr>
          </a:p>
        </p:txBody>
      </p:sp>
      <p:pic>
        <p:nvPicPr>
          <p:cNvPr id="4" name="Picture 3">
            <a:extLst>
              <a:ext uri="{FF2B5EF4-FFF2-40B4-BE49-F238E27FC236}">
                <a16:creationId xmlns:a16="http://schemas.microsoft.com/office/drawing/2014/main" id="{DCB2FCD9-759F-4AB8-541B-6941D9C3FE40}"/>
              </a:ext>
            </a:extLst>
          </p:cNvPr>
          <p:cNvPicPr>
            <a:picLocks noChangeAspect="1"/>
          </p:cNvPicPr>
          <p:nvPr/>
        </p:nvPicPr>
        <p:blipFill>
          <a:blip r:embed="rId2"/>
          <a:stretch>
            <a:fillRect/>
          </a:stretch>
        </p:blipFill>
        <p:spPr>
          <a:xfrm>
            <a:off x="628650" y="1646238"/>
            <a:ext cx="8119488" cy="2877698"/>
          </a:xfrm>
          <a:prstGeom prst="rect">
            <a:avLst/>
          </a:prstGeom>
        </p:spPr>
      </p:pic>
    </p:spTree>
    <p:extLst>
      <p:ext uri="{BB962C8B-B14F-4D97-AF65-F5344CB8AC3E}">
        <p14:creationId xmlns:p14="http://schemas.microsoft.com/office/powerpoint/2010/main" val="2837350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- 03</a:t>
            </a:r>
          </a:p>
        </p:txBody>
      </p:sp>
      <p:sp>
        <p:nvSpPr>
          <p:cNvPr id="9219" name="Content Placeholder 2"/>
          <p:cNvSpPr>
            <a:spLocks noGrp="1"/>
          </p:cNvSpPr>
          <p:nvPr>
            <p:ph idx="1"/>
          </p:nvPr>
        </p:nvSpPr>
        <p:spPr/>
        <p:txBody>
          <a:bodyPr>
            <a:normAutofit fontScale="775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None/>
              <a:defRPr/>
            </a:pPr>
            <a:endParaRPr lang="en-US" sz="2400" b="1" dirty="0">
              <a:solidFill>
                <a:srgbClr val="002060"/>
              </a:solidFill>
            </a:endParaRPr>
          </a:p>
          <a:p>
            <a:pPr marL="0" indent="0">
              <a:buNone/>
              <a:defRPr/>
            </a:pPr>
            <a:r>
              <a:rPr lang="en-US" sz="2400" b="1" dirty="0">
                <a:solidFill>
                  <a:srgbClr val="002060"/>
                </a:solidFill>
              </a:rPr>
              <a:t>Source:</a:t>
            </a:r>
            <a:endParaRPr lang="en-IN" sz="2400" dirty="0"/>
          </a:p>
          <a:p>
            <a:pPr marL="0" indent="0" algn="just">
              <a:buNone/>
              <a:defRPr/>
            </a:pPr>
            <a:r>
              <a:rPr lang="en-IN" sz="2400" dirty="0"/>
              <a:t>“Hybrid Integrated Wearable Patch for Brain EEG-</a:t>
            </a:r>
            <a:r>
              <a:rPr lang="en-IN" sz="2400" dirty="0" err="1"/>
              <a:t>fNI</a:t>
            </a:r>
            <a:r>
              <a:rPr lang="en-IN" sz="2400" dirty="0"/>
              <a:t> Analysis”, </a:t>
            </a:r>
            <a:r>
              <a:rPr lang="en-IN" sz="2400" dirty="0" err="1"/>
              <a:t>Changhyun</a:t>
            </a:r>
            <a:r>
              <a:rPr lang="en-IN" sz="2400" dirty="0"/>
              <a:t> Lee, </a:t>
            </a:r>
            <a:r>
              <a:rPr lang="en-IN" sz="2400" dirty="0" err="1"/>
              <a:t>Hyeonseo</a:t>
            </a:r>
            <a:r>
              <a:rPr lang="en-IN" sz="2400" dirty="0"/>
              <a:t> Song, </a:t>
            </a:r>
            <a:r>
              <a:rPr lang="en-IN" sz="2400" dirty="0" err="1"/>
              <a:t>Jaeyoung</a:t>
            </a:r>
            <a:r>
              <a:rPr lang="en-IN" sz="2400" dirty="0"/>
              <a:t> Kim, </a:t>
            </a:r>
            <a:r>
              <a:rPr lang="en-IN" sz="2400" dirty="0" err="1"/>
              <a:t>Youngjun</a:t>
            </a:r>
            <a:r>
              <a:rPr lang="en-IN" sz="2400" dirty="0"/>
              <a:t> Yun, and Hoi-Jun Yoo, IEEE Transactions on Biomedical Circuits and Systems, 16, 6, 1352–1364,2022, Yes (IEEE journals are Scopus indexed)</a:t>
            </a:r>
            <a:endParaRPr lang="en-US" sz="2400" b="1" dirty="0">
              <a:solidFill>
                <a:srgbClr val="002060"/>
              </a:solidFill>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6</a:t>
            </a:fld>
            <a:endParaRPr lang="en-IN" altLang="en-US" sz="1200">
              <a:solidFill>
                <a:srgbClr val="898989"/>
              </a:solidFill>
            </a:endParaRPr>
          </a:p>
        </p:txBody>
      </p:sp>
      <p:pic>
        <p:nvPicPr>
          <p:cNvPr id="4" name="Picture 3">
            <a:extLst>
              <a:ext uri="{FF2B5EF4-FFF2-40B4-BE49-F238E27FC236}">
                <a16:creationId xmlns:a16="http://schemas.microsoft.com/office/drawing/2014/main" id="{FD49E61E-5205-43E2-20C6-EBF28C6CF033}"/>
              </a:ext>
            </a:extLst>
          </p:cNvPr>
          <p:cNvPicPr>
            <a:picLocks noChangeAspect="1"/>
          </p:cNvPicPr>
          <p:nvPr/>
        </p:nvPicPr>
        <p:blipFill>
          <a:blip r:embed="rId2"/>
          <a:stretch>
            <a:fillRect/>
          </a:stretch>
        </p:blipFill>
        <p:spPr>
          <a:xfrm>
            <a:off x="749030" y="1281560"/>
            <a:ext cx="7645940" cy="3323398"/>
          </a:xfrm>
          <a:prstGeom prst="rect">
            <a:avLst/>
          </a:prstGeom>
        </p:spPr>
      </p:pic>
    </p:spTree>
    <p:extLst>
      <p:ext uri="{BB962C8B-B14F-4D97-AF65-F5344CB8AC3E}">
        <p14:creationId xmlns:p14="http://schemas.microsoft.com/office/powerpoint/2010/main" val="1634077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- 04</a:t>
            </a:r>
          </a:p>
        </p:txBody>
      </p:sp>
      <p:sp>
        <p:nvSpPr>
          <p:cNvPr id="9219" name="Content Placeholder 2"/>
          <p:cNvSpPr>
            <a:spLocks noGrp="1"/>
          </p:cNvSpPr>
          <p:nvPr>
            <p:ph idx="1"/>
          </p:nvPr>
        </p:nvSpPr>
        <p:spPr/>
        <p:txBody>
          <a:bodyPr>
            <a:normAutofit fontScale="77500" lnSpcReduction="20000"/>
          </a:bodyPr>
          <a:lstStyle/>
          <a:p>
            <a:pPr marL="0" indent="0" algn="just">
              <a:buFont typeface="Arial" panose="020B0604020202020204" pitchFamily="34" charset="0"/>
              <a:buNone/>
              <a:defRPr/>
            </a:pPr>
            <a:endParaRPr lang="en-US" sz="2400" dirty="0">
              <a:solidFill>
                <a:srgbClr val="002060"/>
              </a:solidFill>
            </a:endParaRPr>
          </a:p>
          <a:p>
            <a:pPr marL="0" indent="0" algn="just">
              <a:buFont typeface="Arial" panose="020B0604020202020204" pitchFamily="34" charset="0"/>
              <a:buNone/>
              <a:defRPr/>
            </a:pPr>
            <a:endParaRPr lang="en-US" sz="2400" dirty="0">
              <a:solidFill>
                <a:srgbClr val="002060"/>
              </a:solidFill>
            </a:endParaRPr>
          </a:p>
          <a:p>
            <a:pPr marL="0" indent="0" algn="just">
              <a:buFont typeface="Arial" panose="020B0604020202020204" pitchFamily="34" charset="0"/>
              <a:buNone/>
              <a:defRPr/>
            </a:pPr>
            <a:endParaRPr lang="en-US" sz="2400" dirty="0">
              <a:solidFill>
                <a:srgbClr val="002060"/>
              </a:solidFill>
            </a:endParaRPr>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None/>
              <a:defRPr/>
            </a:pPr>
            <a:r>
              <a:rPr lang="en-US" sz="2400" b="1" dirty="0">
                <a:solidFill>
                  <a:srgbClr val="002060"/>
                </a:solidFill>
              </a:rPr>
              <a:t>Source:</a:t>
            </a:r>
          </a:p>
          <a:p>
            <a:pPr marL="0" indent="0" algn="just">
              <a:buNone/>
              <a:defRPr/>
            </a:pPr>
            <a:r>
              <a:rPr lang="en-IN" sz="2400" dirty="0"/>
              <a:t>“An Efficient Deep Learning Approach for Brain </a:t>
            </a:r>
            <a:r>
              <a:rPr lang="en-IN" sz="2400" dirty="0" err="1"/>
              <a:t>Tumor</a:t>
            </a:r>
            <a:r>
              <a:rPr lang="en-IN" sz="2400" dirty="0"/>
              <a:t> Classification Using MRI Images”, Safa Hamoud </a:t>
            </a:r>
            <a:r>
              <a:rPr lang="en-IN" sz="2400" dirty="0" err="1"/>
              <a:t>Aljuaid</a:t>
            </a:r>
            <a:r>
              <a:rPr lang="en-IN" sz="2400" dirty="0"/>
              <a:t>, Rania Kora </a:t>
            </a:r>
            <a:r>
              <a:rPr lang="en-IN" sz="2400" dirty="0" err="1"/>
              <a:t>Ahmed,IEEE</a:t>
            </a:r>
            <a:r>
              <a:rPr lang="en-IN" sz="2400" dirty="0"/>
              <a:t> Access, 10, Not specified (IEEE Access publishes continuously) 121119–121132, 2022, Yes (IEEE Access is Scopus indexed)</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7</a:t>
            </a:fld>
            <a:endParaRPr lang="en-IN" altLang="en-US" sz="1200">
              <a:solidFill>
                <a:srgbClr val="898989"/>
              </a:solidFill>
            </a:endParaRPr>
          </a:p>
        </p:txBody>
      </p:sp>
      <p:pic>
        <p:nvPicPr>
          <p:cNvPr id="4" name="Picture 3">
            <a:extLst>
              <a:ext uri="{FF2B5EF4-FFF2-40B4-BE49-F238E27FC236}">
                <a16:creationId xmlns:a16="http://schemas.microsoft.com/office/drawing/2014/main" id="{533FA539-454A-3EEE-4855-E1C25A902E5C}"/>
              </a:ext>
            </a:extLst>
          </p:cNvPr>
          <p:cNvPicPr>
            <a:picLocks noChangeAspect="1"/>
          </p:cNvPicPr>
          <p:nvPr/>
        </p:nvPicPr>
        <p:blipFill>
          <a:blip r:embed="rId2"/>
          <a:stretch>
            <a:fillRect/>
          </a:stretch>
        </p:blipFill>
        <p:spPr>
          <a:xfrm>
            <a:off x="530157" y="1266723"/>
            <a:ext cx="8083685" cy="3409954"/>
          </a:xfrm>
          <a:prstGeom prst="rect">
            <a:avLst/>
          </a:prstGeom>
        </p:spPr>
      </p:pic>
    </p:spTree>
    <p:extLst>
      <p:ext uri="{BB962C8B-B14F-4D97-AF65-F5344CB8AC3E}">
        <p14:creationId xmlns:p14="http://schemas.microsoft.com/office/powerpoint/2010/main" val="86570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- 05</a:t>
            </a:r>
          </a:p>
        </p:txBody>
      </p:sp>
      <p:sp>
        <p:nvSpPr>
          <p:cNvPr id="9219" name="Content Placeholder 2"/>
          <p:cNvSpPr>
            <a:spLocks noGrp="1"/>
          </p:cNvSpPr>
          <p:nvPr>
            <p:ph idx="1"/>
          </p:nvPr>
        </p:nvSpPr>
        <p:spPr/>
        <p:txBody>
          <a:bodyPr>
            <a:normAutofit fontScale="55000" lnSpcReduction="20000"/>
          </a:bodyPr>
          <a:lstStyle/>
          <a:p>
            <a:pPr marL="0" indent="0" algn="just">
              <a:buFont typeface="Arial" panose="020B0604020202020204" pitchFamily="34" charset="0"/>
              <a:buNone/>
              <a:defRPr/>
            </a:pPr>
            <a:endParaRPr lang="en-US" sz="2400" dirty="0">
              <a:solidFill>
                <a:srgbClr val="002060"/>
              </a:solidFill>
            </a:endParaRPr>
          </a:p>
          <a:p>
            <a:pPr marL="0" indent="0" algn="just">
              <a:buFont typeface="Arial" panose="020B0604020202020204" pitchFamily="34" charset="0"/>
              <a:buNone/>
              <a:defRPr/>
            </a:pPr>
            <a:endParaRPr lang="en-US" sz="2400" dirty="0">
              <a:solidFill>
                <a:srgbClr val="002060"/>
              </a:solidFill>
            </a:endParaRPr>
          </a:p>
          <a:p>
            <a:pPr marL="0" indent="0" algn="just">
              <a:buFont typeface="Arial" panose="020B0604020202020204" pitchFamily="34" charset="0"/>
              <a:buNone/>
              <a:defRPr/>
            </a:pPr>
            <a:endParaRPr lang="en-US" sz="2400" dirty="0">
              <a:solidFill>
                <a:srgbClr val="002060"/>
              </a:solidFill>
            </a:endParaRPr>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Font typeface="Arial" panose="020B0604020202020204" pitchFamily="34" charset="0"/>
              <a:buNone/>
              <a:defRPr/>
            </a:pPr>
            <a:endParaRPr lang="en-US" sz="2400" dirty="0"/>
          </a:p>
          <a:p>
            <a:pPr marL="0" indent="0" algn="just">
              <a:buNone/>
              <a:defRPr/>
            </a:pPr>
            <a:endParaRPr lang="en-US" sz="2400" b="1" dirty="0">
              <a:solidFill>
                <a:srgbClr val="002060"/>
              </a:solidFill>
            </a:endParaRPr>
          </a:p>
          <a:p>
            <a:pPr marL="0" indent="0" algn="just">
              <a:buNone/>
              <a:defRPr/>
            </a:pPr>
            <a:r>
              <a:rPr lang="en-US" sz="3600" b="1" dirty="0">
                <a:solidFill>
                  <a:srgbClr val="002060"/>
                </a:solidFill>
              </a:rPr>
              <a:t>Source:</a:t>
            </a:r>
          </a:p>
          <a:p>
            <a:pPr marL="0" indent="0" algn="just">
              <a:buNone/>
              <a:defRPr/>
            </a:pPr>
            <a:r>
              <a:rPr lang="en-IN" sz="3200" dirty="0"/>
              <a:t>”EEG-Based Epileptic Seizure Detection via Machine Learning Algorithms “, Ahmad B. A. </a:t>
            </a:r>
            <a:r>
              <a:rPr lang="en-IN" sz="3200" dirty="0" err="1"/>
              <a:t>Hassanat</a:t>
            </a:r>
            <a:r>
              <a:rPr lang="en-IN" sz="3200" dirty="0"/>
              <a:t>, Mohammad Rawashdeh, Mohammed A. </a:t>
            </a:r>
            <a:r>
              <a:rPr lang="en-IN" sz="3200" dirty="0" err="1"/>
              <a:t>Alqaralleh</a:t>
            </a:r>
            <a:r>
              <a:rPr lang="en-IN" sz="3200" dirty="0"/>
              <a:t>, Ghada M. </a:t>
            </a:r>
            <a:r>
              <a:rPr lang="en-IN" sz="3200" dirty="0" err="1"/>
              <a:t>Altarawneh</a:t>
            </a:r>
            <a:r>
              <a:rPr lang="en-IN" sz="3200" dirty="0"/>
              <a:t>, Aseel </a:t>
            </a:r>
            <a:r>
              <a:rPr lang="en-IN" sz="3200" dirty="0" err="1"/>
              <a:t>Awajan,Computational</a:t>
            </a:r>
            <a:r>
              <a:rPr lang="en-IN" sz="3200" dirty="0"/>
              <a:t> Intelligence and Neuroscience 2022, 2336575, 11 pages, 2022, No (This paper has been retracted, and while the journal is 9 Scopus indexed, the retracted paper is no longer valid for citation)</a:t>
            </a:r>
            <a:endParaRPr lang="en-US" sz="32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8</a:t>
            </a:fld>
            <a:endParaRPr lang="en-IN" altLang="en-US" sz="1200">
              <a:solidFill>
                <a:srgbClr val="898989"/>
              </a:solidFill>
            </a:endParaRPr>
          </a:p>
        </p:txBody>
      </p:sp>
      <p:pic>
        <p:nvPicPr>
          <p:cNvPr id="4" name="Picture 3">
            <a:extLst>
              <a:ext uri="{FF2B5EF4-FFF2-40B4-BE49-F238E27FC236}">
                <a16:creationId xmlns:a16="http://schemas.microsoft.com/office/drawing/2014/main" id="{8F6D5B69-33B3-396F-96A1-C5A983C3C4D4}"/>
              </a:ext>
            </a:extLst>
          </p:cNvPr>
          <p:cNvPicPr>
            <a:picLocks noChangeAspect="1"/>
          </p:cNvPicPr>
          <p:nvPr/>
        </p:nvPicPr>
        <p:blipFill>
          <a:blip r:embed="rId2"/>
          <a:stretch>
            <a:fillRect/>
          </a:stretch>
        </p:blipFill>
        <p:spPr>
          <a:xfrm>
            <a:off x="373243" y="1417638"/>
            <a:ext cx="8397514" cy="2949036"/>
          </a:xfrm>
          <a:prstGeom prst="rect">
            <a:avLst/>
          </a:prstGeom>
        </p:spPr>
      </p:pic>
    </p:spTree>
    <p:extLst>
      <p:ext uri="{BB962C8B-B14F-4D97-AF65-F5344CB8AC3E}">
        <p14:creationId xmlns:p14="http://schemas.microsoft.com/office/powerpoint/2010/main" val="3607167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defRPr/>
            </a:pPr>
            <a:r>
              <a:rPr lang="en-US" sz="2000" b="1" dirty="0">
                <a:solidFill>
                  <a:srgbClr val="FF0000"/>
                </a:solidFill>
                <a:latin typeface="Times New Roman" panose="02020603050405020304" pitchFamily="18" charset="0"/>
                <a:cs typeface="Times New Roman" panose="02020603050405020304" pitchFamily="18" charset="0"/>
              </a:rPr>
              <a:t>Problem Definition </a:t>
            </a: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r>
              <a:rPr lang="en-US" sz="2000" dirty="0"/>
              <a:t> Traditional brain monitoring systems are bulky, hospital-dependent, and lack real-time, wearable solutions for early detection of neurological disorders like seizures, coma, paralysis, and Alzheimer’s. Scope:</a:t>
            </a: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r>
              <a:rPr lang="en-US" sz="2000" b="1" dirty="0">
                <a:solidFill>
                  <a:srgbClr val="FF0000"/>
                </a:solidFill>
                <a:latin typeface="Times New Roman" panose="02020603050405020304" pitchFamily="18" charset="0"/>
                <a:cs typeface="Times New Roman" panose="02020603050405020304" pitchFamily="18" charset="0"/>
              </a:rPr>
              <a:t>Scope</a:t>
            </a:r>
            <a:endParaRPr lang="en-IN" sz="2000" b="1" dirty="0">
              <a:solidFill>
                <a:srgbClr val="FF0000"/>
              </a:solidFill>
              <a:latin typeface="Times New Roman" panose="02020603050405020304" pitchFamily="18" charset="0"/>
              <a:cs typeface="Times New Roman" panose="02020603050405020304" pitchFamily="18" charset="0"/>
            </a:endParaRPr>
          </a:p>
          <a:p>
            <a:pPr algn="just"/>
            <a:r>
              <a:rPr lang="en-IN" sz="2000" dirty="0">
                <a:solidFill>
                  <a:srgbClr val="002060"/>
                </a:solidFill>
                <a:latin typeface="Arial" panose="020B0604020202020204" pitchFamily="34" charset="0"/>
                <a:cs typeface="Arial" panose="020B0604020202020204" pitchFamily="34" charset="0"/>
              </a:rPr>
              <a:t> </a:t>
            </a:r>
            <a:r>
              <a:rPr lang="en-US" sz="2000" dirty="0"/>
              <a:t>This project aims to develop a smart, wearable EEG-based skin patch (</a:t>
            </a:r>
            <a:r>
              <a:rPr lang="en-US" sz="2000" dirty="0" err="1"/>
              <a:t>NeuroPatch</a:t>
            </a:r>
            <a:r>
              <a:rPr lang="en-US" sz="2000" dirty="0"/>
              <a:t>) that uses AI to detect brain abnormalities and send real-time alerts via wireless communication.</a:t>
            </a:r>
            <a:endParaRPr lang="en-IN" sz="2000"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03A8B13-2D84-4CF8-A4DE-AA9E303C3B51}" type="datetime1">
              <a:rPr lang="en-IN" smtClean="0"/>
              <a:pPr/>
              <a:t>15-04-2026</a:t>
            </a:fld>
            <a:endParaRPr lang="en-IN" dirty="0"/>
          </a:p>
        </p:txBody>
      </p:sp>
      <p:sp>
        <p:nvSpPr>
          <p:cNvPr id="5" name="Footer Placeholder 4"/>
          <p:cNvSpPr>
            <a:spLocks noGrp="1"/>
          </p:cNvSpPr>
          <p:nvPr>
            <p:ph type="ftr" sz="quarter" idx="11"/>
          </p:nvPr>
        </p:nvSpPr>
        <p:spPr/>
        <p:txBody>
          <a:bodyPr/>
          <a:lstStyle/>
          <a:p>
            <a:r>
              <a:rPr lang="en-US" b="1" dirty="0"/>
              <a:t>SREC-MECH</a:t>
            </a:r>
            <a:endParaRPr lang="en-IN" b="1" dirty="0"/>
          </a:p>
        </p:txBody>
      </p:sp>
      <p:sp>
        <p:nvSpPr>
          <p:cNvPr id="6" name="Slide Number Placeholder 5"/>
          <p:cNvSpPr>
            <a:spLocks noGrp="1"/>
          </p:cNvSpPr>
          <p:nvPr>
            <p:ph type="sldNum" sz="quarter" idx="12"/>
          </p:nvPr>
        </p:nvSpPr>
        <p:spPr/>
        <p:txBody>
          <a:bodyPr/>
          <a:lstStyle/>
          <a:p>
            <a:r>
              <a:rPr lang="en-US" dirty="0"/>
              <a:t>9</a:t>
            </a:r>
            <a:endParaRPr lang="en-IN" dirty="0"/>
          </a:p>
        </p:txBody>
      </p:sp>
      <p:sp>
        <p:nvSpPr>
          <p:cNvPr id="7" name="Rectangle 6"/>
          <p:cNvSpPr/>
          <p:nvPr/>
        </p:nvSpPr>
        <p:spPr>
          <a:xfrm>
            <a:off x="1516487" y="292009"/>
            <a:ext cx="6111025" cy="707886"/>
          </a:xfrm>
          <a:prstGeom prst="rect">
            <a:avLst/>
          </a:prstGeom>
        </p:spPr>
        <p:txBody>
          <a:bodyPr wrap="square">
            <a:spAutoFit/>
          </a:bodyPr>
          <a:lstStyle/>
          <a:p>
            <a:pPr algn="ctr"/>
            <a:r>
              <a:rPr lang="en-US" sz="2000" b="1" dirty="0">
                <a:solidFill>
                  <a:schemeClr val="accent6">
                    <a:lumMod val="50000"/>
                  </a:schemeClr>
                </a:solidFill>
                <a:latin typeface="Arial" panose="020B0604020202020204" pitchFamily="34" charset="0"/>
                <a:cs typeface="Arial" panose="020B0604020202020204" pitchFamily="34" charset="0"/>
              </a:rPr>
              <a:t>Problem identification, scope and objectives (Contd.,)</a:t>
            </a:r>
            <a:endParaRPr lang="en-IN" sz="2000" dirty="0">
              <a:solidFill>
                <a:schemeClr val="accent6">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4958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r>
              <a:rPr lang="en-IN" sz="2000" dirty="0">
                <a:solidFill>
                  <a:srgbClr val="002060"/>
                </a:solidFill>
                <a:latin typeface="Arial" panose="020B0604020202020204" pitchFamily="34" charset="0"/>
                <a:cs typeface="Arial" panose="020B0604020202020204" pitchFamily="34" charset="0"/>
              </a:rPr>
              <a:t> </a:t>
            </a:r>
          </a:p>
        </p:txBody>
      </p:sp>
      <p:sp>
        <p:nvSpPr>
          <p:cNvPr id="4" name="Date Placeholder 3"/>
          <p:cNvSpPr>
            <a:spLocks noGrp="1"/>
          </p:cNvSpPr>
          <p:nvPr>
            <p:ph type="dt" sz="half" idx="10"/>
          </p:nvPr>
        </p:nvSpPr>
        <p:spPr/>
        <p:txBody>
          <a:bodyPr/>
          <a:lstStyle/>
          <a:p>
            <a:fld id="{803A8B13-2D84-4CF8-A4DE-AA9E303C3B51}" type="datetime1">
              <a:rPr lang="en-IN" smtClean="0"/>
              <a:pPr/>
              <a:t>15-04-2026</a:t>
            </a:fld>
            <a:endParaRPr lang="en-IN" dirty="0"/>
          </a:p>
        </p:txBody>
      </p:sp>
      <p:sp>
        <p:nvSpPr>
          <p:cNvPr id="5" name="Footer Placeholder 4"/>
          <p:cNvSpPr>
            <a:spLocks noGrp="1"/>
          </p:cNvSpPr>
          <p:nvPr>
            <p:ph type="ftr" sz="quarter" idx="11"/>
          </p:nvPr>
        </p:nvSpPr>
        <p:spPr/>
        <p:txBody>
          <a:bodyPr/>
          <a:lstStyle/>
          <a:p>
            <a:r>
              <a:rPr lang="en-US" b="1" dirty="0"/>
              <a:t>SREC-MECH</a:t>
            </a:r>
            <a:endParaRPr lang="en-IN" b="1" dirty="0"/>
          </a:p>
        </p:txBody>
      </p:sp>
      <p:sp>
        <p:nvSpPr>
          <p:cNvPr id="6" name="Slide Number Placeholder 5"/>
          <p:cNvSpPr>
            <a:spLocks noGrp="1"/>
          </p:cNvSpPr>
          <p:nvPr>
            <p:ph type="sldNum" sz="quarter" idx="12"/>
          </p:nvPr>
        </p:nvSpPr>
        <p:spPr/>
        <p:txBody>
          <a:bodyPr/>
          <a:lstStyle/>
          <a:p>
            <a:r>
              <a:rPr lang="en-US" dirty="0"/>
              <a:t>10</a:t>
            </a:r>
            <a:endParaRPr lang="en-IN" dirty="0"/>
          </a:p>
        </p:txBody>
      </p:sp>
      <p:sp>
        <p:nvSpPr>
          <p:cNvPr id="7" name="Rectangle 6"/>
          <p:cNvSpPr/>
          <p:nvPr/>
        </p:nvSpPr>
        <p:spPr>
          <a:xfrm>
            <a:off x="1516487" y="292009"/>
            <a:ext cx="6111025" cy="400110"/>
          </a:xfrm>
          <a:prstGeom prst="rect">
            <a:avLst/>
          </a:prstGeom>
        </p:spPr>
        <p:txBody>
          <a:bodyPr wrap="square">
            <a:spAutoFit/>
          </a:bodyPr>
          <a:lstStyle/>
          <a:p>
            <a:pPr algn="ctr"/>
            <a:r>
              <a:rPr lang="en-US" sz="2000" b="1" dirty="0">
                <a:solidFill>
                  <a:schemeClr val="accent6">
                    <a:lumMod val="50000"/>
                  </a:schemeClr>
                </a:solidFill>
                <a:latin typeface="Arial" panose="020B0604020202020204" pitchFamily="34" charset="0"/>
                <a:cs typeface="Arial" panose="020B0604020202020204" pitchFamily="34" charset="0"/>
              </a:rPr>
              <a:t>Problem identification, scope and objectives</a:t>
            </a:r>
            <a:endParaRPr lang="en-IN" sz="2000" dirty="0">
              <a:solidFill>
                <a:schemeClr val="accent6">
                  <a:lumMod val="50000"/>
                </a:schemeClr>
              </a:solidFill>
              <a:latin typeface="Arial" panose="020B0604020202020204" pitchFamily="34" charset="0"/>
              <a:cs typeface="Arial" panose="020B0604020202020204" pitchFamily="34" charset="0"/>
            </a:endParaRPr>
          </a:p>
        </p:txBody>
      </p:sp>
      <p:sp>
        <p:nvSpPr>
          <p:cNvPr id="10" name="Rectangle 9"/>
          <p:cNvSpPr/>
          <p:nvPr/>
        </p:nvSpPr>
        <p:spPr>
          <a:xfrm>
            <a:off x="943939" y="1500188"/>
            <a:ext cx="1630575" cy="477054"/>
          </a:xfrm>
          <a:prstGeom prst="rect">
            <a:avLst/>
          </a:prstGeom>
        </p:spPr>
        <p:txBody>
          <a:bodyPr wrap="none">
            <a:spAutoFit/>
          </a:bodyPr>
          <a:lstStyle/>
          <a:p>
            <a:pPr algn="just">
              <a:defRPr/>
            </a:pPr>
            <a:r>
              <a:rPr lang="en-US" sz="2500" b="1" dirty="0">
                <a:solidFill>
                  <a:srgbClr val="FF0000"/>
                </a:solidFill>
                <a:latin typeface="Times New Roman" panose="02020603050405020304" pitchFamily="18" charset="0"/>
                <a:cs typeface="Times New Roman" panose="02020603050405020304" pitchFamily="18" charset="0"/>
              </a:rPr>
              <a:t>Objectives</a:t>
            </a:r>
            <a:endParaRPr lang="en-IN" sz="2500" b="1"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4232771-9422-F180-3D8E-1D73CF79FA79}"/>
              </a:ext>
            </a:extLst>
          </p:cNvPr>
          <p:cNvSpPr txBox="1"/>
          <p:nvPr/>
        </p:nvSpPr>
        <p:spPr>
          <a:xfrm>
            <a:off x="700392" y="2159103"/>
            <a:ext cx="7918315" cy="1754326"/>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design and develop a compact and wearable system for continuous monitoring of brain activity.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acquire, process, and analyze brain signals in real time for detecting abnormal neurological patterns.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enable wireless monitoring and provide instant alerts during critical conditions for improved patient safety.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697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Existing technology of the project</a:t>
            </a:r>
          </a:p>
        </p:txBody>
      </p:sp>
      <p:sp>
        <p:nvSpPr>
          <p:cNvPr id="9219" name="Content Placeholder 2"/>
          <p:cNvSpPr>
            <a:spLocks noGrp="1"/>
          </p:cNvSpPr>
          <p:nvPr>
            <p:ph idx="1"/>
          </p:nvPr>
        </p:nvSpPr>
        <p:spPr>
          <a:xfrm>
            <a:off x="628650" y="1342417"/>
            <a:ext cx="7886700" cy="5379058"/>
          </a:xfrm>
        </p:spPr>
        <p:txBody>
          <a:bodyPr>
            <a:normAutofit fontScale="92500" lnSpcReduction="20000"/>
          </a:bodyPr>
          <a:lstStyle/>
          <a:p>
            <a:pPr marL="0" indent="0" algn="just">
              <a:buNone/>
            </a:pPr>
            <a:r>
              <a:rPr lang="en-US" sz="2000" b="1" dirty="0">
                <a:latin typeface="Times New Roman" panose="02020603050405020304" pitchFamily="18" charset="0"/>
                <a:cs typeface="Times New Roman" panose="02020603050405020304" pitchFamily="18" charset="0"/>
              </a:rPr>
              <a:t>Wearable EEG Headbands &amp; Caps </a:t>
            </a:r>
          </a:p>
          <a:p>
            <a:pPr marL="0" indent="0" algn="just">
              <a:buNone/>
            </a:pPr>
            <a:r>
              <a:rPr lang="en-US" sz="2000" dirty="0">
                <a:latin typeface="Times New Roman" panose="02020603050405020304" pitchFamily="18" charset="0"/>
                <a:cs typeface="Times New Roman" panose="02020603050405020304" pitchFamily="18" charset="0"/>
              </a:rPr>
              <a:t>• Wearable EEG headbands, such as those developed by Muse or </a:t>
            </a:r>
            <a:r>
              <a:rPr lang="en-US" sz="2000" dirty="0" err="1">
                <a:latin typeface="Times New Roman" panose="02020603050405020304" pitchFamily="18" charset="0"/>
                <a:cs typeface="Times New Roman" panose="02020603050405020304" pitchFamily="18" charset="0"/>
              </a:rPr>
              <a:t>NeuroSky</a:t>
            </a:r>
            <a:r>
              <a:rPr lang="en-US" sz="2000" dirty="0">
                <a:latin typeface="Times New Roman" panose="02020603050405020304" pitchFamily="18" charset="0"/>
                <a:cs typeface="Times New Roman" panose="02020603050405020304" pitchFamily="18" charset="0"/>
              </a:rPr>
              <a:t>, integrate electrodes into flexible bands or caps. While not as precise as full clinical systems, they provide a good balance of comfort and utility for personal-use scenarios.[Biology Insights Wikipedia ] The </a:t>
            </a:r>
            <a:r>
              <a:rPr lang="en-US" sz="2000" dirty="0" err="1">
                <a:latin typeface="Times New Roman" panose="02020603050405020304" pitchFamily="18" charset="0"/>
                <a:cs typeface="Times New Roman" panose="02020603050405020304" pitchFamily="18" charset="0"/>
              </a:rPr>
              <a:t>g.Nautilus</a:t>
            </a:r>
            <a:r>
              <a:rPr lang="en-US" sz="2000" dirty="0">
                <a:latin typeface="Times New Roman" panose="02020603050405020304" pitchFamily="18" charset="0"/>
                <a:cs typeface="Times New Roman" panose="02020603050405020304" pitchFamily="18" charset="0"/>
              </a:rPr>
              <a:t> Research and PRO Flexible series are research-grade, offering configurable dry or wet electrodes in 8 to 64-channel setups, high fidelity data, and wireless communication.[</a:t>
            </a:r>
            <a:r>
              <a:rPr lang="en-US" sz="2000" dirty="0" err="1">
                <a:latin typeface="Times New Roman" panose="02020603050405020304" pitchFamily="18" charset="0"/>
                <a:cs typeface="Times New Roman" panose="02020603050405020304" pitchFamily="18" charset="0"/>
              </a:rPr>
              <a:t>g.tec</a:t>
            </a:r>
            <a:r>
              <a:rPr lang="en-US" sz="2000" dirty="0">
                <a:latin typeface="Times New Roman" panose="02020603050405020304" pitchFamily="18" charset="0"/>
                <a:cs typeface="Times New Roman" panose="02020603050405020304" pitchFamily="18" charset="0"/>
              </a:rPr>
              <a:t> medical engineering+1 ] </a:t>
            </a:r>
          </a:p>
          <a:p>
            <a:pPr marL="0" indent="0" algn="just">
              <a:buNone/>
            </a:pPr>
            <a:r>
              <a:rPr lang="en-US" sz="2000" b="1" dirty="0">
                <a:latin typeface="Times New Roman" panose="02020603050405020304" pitchFamily="18" charset="0"/>
                <a:cs typeface="Times New Roman" panose="02020603050405020304" pitchFamily="18" charset="0"/>
              </a:rPr>
              <a:t>Dry-Electrode &amp; Motion-Resistant Systems</a:t>
            </a:r>
          </a:p>
          <a:p>
            <a:pPr marL="0" indent="0" algn="just">
              <a:buNone/>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Recent EEG headsets like Diadem incorporate dry electrodes and active shielding for robust signal quality—even during movement—making them suitable for real-world, daily use.[</a:t>
            </a:r>
            <a:r>
              <a:rPr lang="en-US" sz="2000" dirty="0" err="1">
                <a:latin typeface="Times New Roman" panose="02020603050405020304" pitchFamily="18" charset="0"/>
                <a:cs typeface="Times New Roman" panose="02020603050405020304" pitchFamily="18" charset="0"/>
              </a:rPr>
              <a:t>Bitbrain</a:t>
            </a:r>
            <a:r>
              <a:rPr lang="en-US" sz="2000" dirty="0">
                <a:latin typeface="Times New Roman" panose="02020603050405020304" pitchFamily="18" charset="0"/>
                <a:cs typeface="Times New Roman" panose="02020603050405020304" pitchFamily="18" charset="0"/>
              </a:rPr>
              <a:t> ] The Nuance EEG headset incorporates mobile EEG technology with strong resistance to motion artifacts—ideal for applications requiring stability and durability.[</a:t>
            </a:r>
            <a:r>
              <a:rPr lang="en-US" sz="2000" dirty="0" err="1">
                <a:latin typeface="Times New Roman" panose="02020603050405020304" pitchFamily="18" charset="0"/>
                <a:cs typeface="Times New Roman" panose="02020603050405020304" pitchFamily="18" charset="0"/>
              </a:rPr>
              <a:t>EigenSensor</a:t>
            </a:r>
            <a:r>
              <a:rPr lang="en-US" sz="2000" dirty="0">
                <a:latin typeface="Times New Roman" panose="02020603050405020304" pitchFamily="18" charset="0"/>
                <a:cs typeface="Times New Roman" panose="02020603050405020304" pitchFamily="18" charset="0"/>
              </a:rPr>
              <a:t> ] </a:t>
            </a:r>
          </a:p>
          <a:p>
            <a:pPr marL="0" indent="0" algn="just">
              <a:buNone/>
            </a:pPr>
            <a:r>
              <a:rPr lang="en-US" sz="2000" b="1" dirty="0">
                <a:latin typeface="Times New Roman" panose="02020603050405020304" pitchFamily="18" charset="0"/>
                <a:cs typeface="Times New Roman" panose="02020603050405020304" pitchFamily="18" charset="0"/>
              </a:rPr>
              <a:t>Integrated Multimodal Headsets</a:t>
            </a:r>
          </a:p>
          <a:p>
            <a:pPr marL="0" indent="0" algn="just">
              <a:buNone/>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OpenBCI’s</a:t>
            </a:r>
            <a:r>
              <a:rPr lang="en-US" sz="2000" dirty="0">
                <a:latin typeface="Times New Roman" panose="02020603050405020304" pitchFamily="18" charset="0"/>
                <a:cs typeface="Times New Roman" panose="02020603050405020304" pitchFamily="18" charset="0"/>
              </a:rPr>
              <a:t> Galea integrates multiple physiological sensors (EEG, EMG, EDA, PPG, eye tracking) into a single headset platform—ideal for immersive neurotech applications.[Wikipedia • Consumer and Clinical Applications • Muse headband: popular for real-time neurofeedback and meditation, easily worn at home.[Wikipedia ]</a:t>
            </a:r>
          </a:p>
          <a:p>
            <a:pPr marL="0" indent="0" algn="just">
              <a:buFont typeface="Arial" panose="020B0604020202020204" pitchFamily="34" charset="0"/>
              <a:buNone/>
            </a:pPr>
            <a:endParaRPr lang="en-US" sz="9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sz="9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sz="9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sz="9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en-US" sz="900" dirty="0">
              <a:latin typeface="Times New Roman" panose="02020603050405020304" pitchFamily="18" charset="0"/>
              <a:cs typeface="Times New Roman" panose="02020603050405020304" pitchFamily="18" charset="0"/>
            </a:endParaRPr>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11</a:t>
            </a:fld>
            <a:endParaRPr lang="en-IN" sz="1200">
              <a:solidFill>
                <a:srgbClr val="898989"/>
              </a:solidFill>
            </a:endParaRPr>
          </a:p>
        </p:txBody>
      </p:sp>
    </p:spTree>
    <p:extLst>
      <p:ext uri="{BB962C8B-B14F-4D97-AF65-F5344CB8AC3E}">
        <p14:creationId xmlns:p14="http://schemas.microsoft.com/office/powerpoint/2010/main" val="298917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Existing technology of the project</a:t>
            </a:r>
          </a:p>
        </p:txBody>
      </p:sp>
      <p:sp>
        <p:nvSpPr>
          <p:cNvPr id="9219" name="Content Placeholder 2"/>
          <p:cNvSpPr>
            <a:spLocks noGrp="1"/>
          </p:cNvSpPr>
          <p:nvPr>
            <p:ph idx="1"/>
          </p:nvPr>
        </p:nvSpPr>
        <p:spPr/>
        <p:txBody>
          <a:bodyPr/>
          <a:lstStyle/>
          <a:p>
            <a:pPr marL="0" indent="0">
              <a:buFont typeface="Arial" panose="020B0604020202020204" pitchFamily="34" charset="0"/>
              <a:buNone/>
            </a:pPr>
            <a:r>
              <a:rPr lang="en-US" sz="2400" b="1" dirty="0">
                <a:solidFill>
                  <a:srgbClr val="FF0000"/>
                </a:solidFill>
                <a:latin typeface="Times New Roman" panose="02020603050405020304" pitchFamily="18" charset="0"/>
                <a:cs typeface="Times New Roman" panose="02020603050405020304" pitchFamily="18" charset="0"/>
              </a:rPr>
              <a:t>Photographs</a:t>
            </a:r>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12</a:t>
            </a:fld>
            <a:endParaRPr lang="en-IN" sz="1200">
              <a:solidFill>
                <a:srgbClr val="898989"/>
              </a:solidFill>
            </a:endParaRPr>
          </a:p>
        </p:txBody>
      </p:sp>
      <p:pic>
        <p:nvPicPr>
          <p:cNvPr id="3" name="Picture 2">
            <a:extLst>
              <a:ext uri="{FF2B5EF4-FFF2-40B4-BE49-F238E27FC236}">
                <a16:creationId xmlns:a16="http://schemas.microsoft.com/office/drawing/2014/main" id="{65DCAA9B-E322-F6C9-1DED-7C1891B912DD}"/>
              </a:ext>
            </a:extLst>
          </p:cNvPr>
          <p:cNvPicPr>
            <a:picLocks noChangeAspect="1"/>
          </p:cNvPicPr>
          <p:nvPr/>
        </p:nvPicPr>
        <p:blipFill>
          <a:blip r:embed="rId2"/>
          <a:stretch>
            <a:fillRect/>
          </a:stretch>
        </p:blipFill>
        <p:spPr>
          <a:xfrm>
            <a:off x="379351" y="1780778"/>
            <a:ext cx="8229627" cy="4441032"/>
          </a:xfrm>
          <a:prstGeom prst="rect">
            <a:avLst/>
          </a:prstGeom>
        </p:spPr>
      </p:pic>
    </p:spTree>
    <p:extLst>
      <p:ext uri="{BB962C8B-B14F-4D97-AF65-F5344CB8AC3E}">
        <p14:creationId xmlns:p14="http://schemas.microsoft.com/office/powerpoint/2010/main" val="1455066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pPr eaLnBrk="1" hangingPunct="1"/>
            <a:r>
              <a:rPr lang="en-US" sz="2800" b="1" dirty="0">
                <a:solidFill>
                  <a:srgbClr val="7030A0"/>
                </a:solidFill>
                <a:latin typeface="Arial" panose="020B0604020202020204" pitchFamily="34" charset="0"/>
                <a:cs typeface="Arial" panose="020B0604020202020204" pitchFamily="34" charset="0"/>
              </a:rPr>
              <a:t>Methodology</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13</a:t>
            </a:fld>
            <a:endParaRPr lang="en-IN" sz="1200">
              <a:solidFill>
                <a:srgbClr val="898989"/>
              </a:solidFill>
            </a:endParaRPr>
          </a:p>
        </p:txBody>
      </p:sp>
      <p:sp>
        <p:nvSpPr>
          <p:cNvPr id="2" name="Rectangle 1"/>
          <p:cNvSpPr/>
          <p:nvPr/>
        </p:nvSpPr>
        <p:spPr>
          <a:xfrm>
            <a:off x="241793" y="1289199"/>
            <a:ext cx="3135025" cy="461665"/>
          </a:xfrm>
          <a:prstGeom prst="rect">
            <a:avLst/>
          </a:prstGeom>
        </p:spPr>
        <p:txBody>
          <a:bodyPr wrap="none">
            <a:spAutoFit/>
          </a:bodyPr>
          <a:lstStyle/>
          <a:p>
            <a:r>
              <a:rPr lang="en-US" sz="2400" b="1" dirty="0">
                <a:solidFill>
                  <a:srgbClr val="FF0000"/>
                </a:solidFill>
                <a:latin typeface="Times New Roman" panose="02020603050405020304" pitchFamily="18" charset="0"/>
                <a:cs typeface="Times New Roman" panose="02020603050405020304" pitchFamily="18" charset="0"/>
              </a:rPr>
              <a:t>Process Flow Diagram</a:t>
            </a:r>
          </a:p>
        </p:txBody>
      </p:sp>
      <p:pic>
        <p:nvPicPr>
          <p:cNvPr id="5" name="Picture 4">
            <a:extLst>
              <a:ext uri="{FF2B5EF4-FFF2-40B4-BE49-F238E27FC236}">
                <a16:creationId xmlns:a16="http://schemas.microsoft.com/office/drawing/2014/main" id="{6C41C290-8E0A-A1A0-27C8-6CD0806D9794}"/>
              </a:ext>
            </a:extLst>
          </p:cNvPr>
          <p:cNvPicPr>
            <a:picLocks noChangeAspect="1"/>
          </p:cNvPicPr>
          <p:nvPr/>
        </p:nvPicPr>
        <p:blipFill>
          <a:blip r:embed="rId2"/>
          <a:stretch>
            <a:fillRect/>
          </a:stretch>
        </p:blipFill>
        <p:spPr>
          <a:xfrm>
            <a:off x="927071" y="1750864"/>
            <a:ext cx="7231092" cy="4721903"/>
          </a:xfrm>
          <a:prstGeom prst="rect">
            <a:avLst/>
          </a:prstGeom>
        </p:spPr>
      </p:pic>
    </p:spTree>
    <p:extLst>
      <p:ext uri="{BB962C8B-B14F-4D97-AF65-F5344CB8AC3E}">
        <p14:creationId xmlns:p14="http://schemas.microsoft.com/office/powerpoint/2010/main" val="2380853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Design &amp; Experimentation</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14</a:t>
            </a:fld>
            <a:endParaRPr lang="en-IN" sz="1200">
              <a:solidFill>
                <a:srgbClr val="898989"/>
              </a:solidFill>
            </a:endParaRPr>
          </a:p>
        </p:txBody>
      </p:sp>
      <p:pic>
        <p:nvPicPr>
          <p:cNvPr id="4" name="Picture 3">
            <a:extLst>
              <a:ext uri="{FF2B5EF4-FFF2-40B4-BE49-F238E27FC236}">
                <a16:creationId xmlns:a16="http://schemas.microsoft.com/office/drawing/2014/main" id="{C8A87911-025D-559F-C880-B9FCC28116DB}"/>
              </a:ext>
            </a:extLst>
          </p:cNvPr>
          <p:cNvPicPr>
            <a:picLocks noChangeAspect="1"/>
          </p:cNvPicPr>
          <p:nvPr/>
        </p:nvPicPr>
        <p:blipFill>
          <a:blip r:embed="rId2"/>
          <a:stretch>
            <a:fillRect/>
          </a:stretch>
        </p:blipFill>
        <p:spPr>
          <a:xfrm>
            <a:off x="642938" y="1500188"/>
            <a:ext cx="7908587" cy="4601078"/>
          </a:xfrm>
          <a:prstGeom prst="rect">
            <a:avLst/>
          </a:prstGeom>
        </p:spPr>
      </p:pic>
    </p:spTree>
    <p:extLst>
      <p:ext uri="{BB962C8B-B14F-4D97-AF65-F5344CB8AC3E}">
        <p14:creationId xmlns:p14="http://schemas.microsoft.com/office/powerpoint/2010/main" val="2915200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Design &amp; Experimentation</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15</a:t>
            </a:fld>
            <a:endParaRPr lang="en-IN" sz="1200">
              <a:solidFill>
                <a:srgbClr val="898989"/>
              </a:solidFill>
            </a:endParaRPr>
          </a:p>
        </p:txBody>
      </p:sp>
      <p:pic>
        <p:nvPicPr>
          <p:cNvPr id="4" name="Picture 3">
            <a:extLst>
              <a:ext uri="{FF2B5EF4-FFF2-40B4-BE49-F238E27FC236}">
                <a16:creationId xmlns:a16="http://schemas.microsoft.com/office/drawing/2014/main" id="{7C66C74F-EE67-4789-7E47-247F6353BCF5}"/>
              </a:ext>
            </a:extLst>
          </p:cNvPr>
          <p:cNvPicPr>
            <a:picLocks noChangeAspect="1"/>
          </p:cNvPicPr>
          <p:nvPr/>
        </p:nvPicPr>
        <p:blipFill>
          <a:blip r:embed="rId2"/>
          <a:stretch>
            <a:fillRect/>
          </a:stretch>
        </p:blipFill>
        <p:spPr>
          <a:xfrm>
            <a:off x="328876" y="1634246"/>
            <a:ext cx="8486248" cy="4088158"/>
          </a:xfrm>
          <a:prstGeom prst="rect">
            <a:avLst/>
          </a:prstGeom>
        </p:spPr>
      </p:pic>
    </p:spTree>
    <p:extLst>
      <p:ext uri="{BB962C8B-B14F-4D97-AF65-F5344CB8AC3E}">
        <p14:creationId xmlns:p14="http://schemas.microsoft.com/office/powerpoint/2010/main" val="314355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Technical feasibility</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16</a:t>
            </a:fld>
            <a:endParaRPr lang="en-IN" sz="1200">
              <a:solidFill>
                <a:srgbClr val="898989"/>
              </a:solidFill>
            </a:endParaRPr>
          </a:p>
        </p:txBody>
      </p:sp>
      <p:sp>
        <p:nvSpPr>
          <p:cNvPr id="4" name="TextBox 3">
            <a:extLst>
              <a:ext uri="{FF2B5EF4-FFF2-40B4-BE49-F238E27FC236}">
                <a16:creationId xmlns:a16="http://schemas.microsoft.com/office/drawing/2014/main" id="{446915F4-6407-2602-BF40-FA1A647D1BCE}"/>
              </a:ext>
            </a:extLst>
          </p:cNvPr>
          <p:cNvSpPr txBox="1"/>
          <p:nvPr/>
        </p:nvSpPr>
        <p:spPr>
          <a:xfrm>
            <a:off x="598707" y="1417806"/>
            <a:ext cx="7946585" cy="4801314"/>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is based on the established principle of Electroencephalography, which is a reliable and widely used method for monitoring brain activity.</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Required hardware and sensing modules are easily available, compatible, and suitable for wearable system design.</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signal processing techniques such as filtering and feature extraction can be efficiently implemented using embedded systems.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Wireless communication enables reliable transmission of data for remote monitoring and analysis.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operates with low power consumption, making it suitable for continuous and portable usage.</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overall design is scalable and can be further enhanced with advanced features such as cloud integration and intelligent analysis.</a:t>
            </a:r>
          </a:p>
        </p:txBody>
      </p:sp>
    </p:spTree>
    <p:extLst>
      <p:ext uri="{BB962C8B-B14F-4D97-AF65-F5344CB8AC3E}">
        <p14:creationId xmlns:p14="http://schemas.microsoft.com/office/powerpoint/2010/main" val="347192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Financial Costing</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17</a:t>
            </a:fld>
            <a:endParaRPr lang="en-IN" sz="1200">
              <a:solidFill>
                <a:srgbClr val="898989"/>
              </a:solidFill>
            </a:endParaRPr>
          </a:p>
        </p:txBody>
      </p:sp>
      <p:pic>
        <p:nvPicPr>
          <p:cNvPr id="4" name="Picture 3">
            <a:extLst>
              <a:ext uri="{FF2B5EF4-FFF2-40B4-BE49-F238E27FC236}">
                <a16:creationId xmlns:a16="http://schemas.microsoft.com/office/drawing/2014/main" id="{260CB716-04AA-4B3D-2136-94A829C1C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938" y="1576387"/>
            <a:ext cx="7810398" cy="4250481"/>
          </a:xfrm>
          <a:prstGeom prst="rect">
            <a:avLst/>
          </a:prstGeom>
        </p:spPr>
      </p:pic>
    </p:spTree>
    <p:extLst>
      <p:ext uri="{BB962C8B-B14F-4D97-AF65-F5344CB8AC3E}">
        <p14:creationId xmlns:p14="http://schemas.microsoft.com/office/powerpoint/2010/main" val="506490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Results &amp; Discussion</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18</a:t>
            </a:fld>
            <a:endParaRPr lang="en-IN" sz="1200">
              <a:solidFill>
                <a:srgbClr val="898989"/>
              </a:solidFill>
            </a:endParaRPr>
          </a:p>
        </p:txBody>
      </p:sp>
      <p:pic>
        <p:nvPicPr>
          <p:cNvPr id="4" name="Picture 3">
            <a:extLst>
              <a:ext uri="{FF2B5EF4-FFF2-40B4-BE49-F238E27FC236}">
                <a16:creationId xmlns:a16="http://schemas.microsoft.com/office/drawing/2014/main" id="{47BB099D-F1C5-C3DA-17DC-1EDDC37CD5BF}"/>
              </a:ext>
            </a:extLst>
          </p:cNvPr>
          <p:cNvPicPr>
            <a:picLocks noChangeAspect="1"/>
          </p:cNvPicPr>
          <p:nvPr/>
        </p:nvPicPr>
        <p:blipFill>
          <a:blip r:embed="rId2"/>
          <a:stretch>
            <a:fillRect/>
          </a:stretch>
        </p:blipFill>
        <p:spPr>
          <a:xfrm>
            <a:off x="395289" y="1165042"/>
            <a:ext cx="4526907" cy="5109298"/>
          </a:xfrm>
          <a:prstGeom prst="rect">
            <a:avLst/>
          </a:prstGeom>
        </p:spPr>
      </p:pic>
      <p:pic>
        <p:nvPicPr>
          <p:cNvPr id="6" name="Picture 5">
            <a:extLst>
              <a:ext uri="{FF2B5EF4-FFF2-40B4-BE49-F238E27FC236}">
                <a16:creationId xmlns:a16="http://schemas.microsoft.com/office/drawing/2014/main" id="{B6E9F294-71C1-6214-FFBB-9B63928674B9}"/>
              </a:ext>
            </a:extLst>
          </p:cNvPr>
          <p:cNvPicPr>
            <a:picLocks noChangeAspect="1"/>
          </p:cNvPicPr>
          <p:nvPr/>
        </p:nvPicPr>
        <p:blipFill>
          <a:blip r:embed="rId3"/>
          <a:stretch>
            <a:fillRect/>
          </a:stretch>
        </p:blipFill>
        <p:spPr>
          <a:xfrm>
            <a:off x="5369668" y="1342418"/>
            <a:ext cx="3210128" cy="4931922"/>
          </a:xfrm>
          <a:prstGeom prst="rect">
            <a:avLst/>
          </a:prstGeom>
        </p:spPr>
      </p:pic>
    </p:spTree>
    <p:extLst>
      <p:ext uri="{BB962C8B-B14F-4D97-AF65-F5344CB8AC3E}">
        <p14:creationId xmlns:p14="http://schemas.microsoft.com/office/powerpoint/2010/main" val="712537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Results</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19</a:t>
            </a:fld>
            <a:endParaRPr lang="en-IN" sz="1200">
              <a:solidFill>
                <a:srgbClr val="898989"/>
              </a:solidFill>
            </a:endParaRPr>
          </a:p>
        </p:txBody>
      </p:sp>
      <p:pic>
        <p:nvPicPr>
          <p:cNvPr id="4" name="Picture 3">
            <a:extLst>
              <a:ext uri="{FF2B5EF4-FFF2-40B4-BE49-F238E27FC236}">
                <a16:creationId xmlns:a16="http://schemas.microsoft.com/office/drawing/2014/main" id="{8748BAD1-5E7B-24A4-529F-F5EB8E668456}"/>
              </a:ext>
            </a:extLst>
          </p:cNvPr>
          <p:cNvPicPr>
            <a:picLocks noChangeAspect="1"/>
          </p:cNvPicPr>
          <p:nvPr/>
        </p:nvPicPr>
        <p:blipFill>
          <a:blip r:embed="rId2"/>
          <a:stretch>
            <a:fillRect/>
          </a:stretch>
        </p:blipFill>
        <p:spPr>
          <a:xfrm>
            <a:off x="5273249" y="1428750"/>
            <a:ext cx="2738358" cy="4927600"/>
          </a:xfrm>
          <a:prstGeom prst="rect">
            <a:avLst/>
          </a:prstGeom>
        </p:spPr>
      </p:pic>
      <p:pic>
        <p:nvPicPr>
          <p:cNvPr id="6" name="Picture 5">
            <a:extLst>
              <a:ext uri="{FF2B5EF4-FFF2-40B4-BE49-F238E27FC236}">
                <a16:creationId xmlns:a16="http://schemas.microsoft.com/office/drawing/2014/main" id="{1748AD32-B98D-FE2C-DF15-99F07B69B97E}"/>
              </a:ext>
            </a:extLst>
          </p:cNvPr>
          <p:cNvPicPr>
            <a:picLocks noChangeAspect="1"/>
          </p:cNvPicPr>
          <p:nvPr/>
        </p:nvPicPr>
        <p:blipFill>
          <a:blip r:embed="rId3"/>
          <a:stretch>
            <a:fillRect/>
          </a:stretch>
        </p:blipFill>
        <p:spPr>
          <a:xfrm>
            <a:off x="1370498" y="1428750"/>
            <a:ext cx="2656670" cy="4844070"/>
          </a:xfrm>
          <a:prstGeom prst="rect">
            <a:avLst/>
          </a:prstGeom>
        </p:spPr>
      </p:pic>
    </p:spTree>
    <p:extLst>
      <p:ext uri="{BB962C8B-B14F-4D97-AF65-F5344CB8AC3E}">
        <p14:creationId xmlns:p14="http://schemas.microsoft.com/office/powerpoint/2010/main" val="1472883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Scope for future wok</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20</a:t>
            </a:fld>
            <a:endParaRPr lang="en-IN" sz="1200">
              <a:solidFill>
                <a:srgbClr val="898989"/>
              </a:solidFill>
            </a:endParaRPr>
          </a:p>
        </p:txBody>
      </p:sp>
      <p:sp>
        <p:nvSpPr>
          <p:cNvPr id="4" name="TextBox 3">
            <a:extLst>
              <a:ext uri="{FF2B5EF4-FFF2-40B4-BE49-F238E27FC236}">
                <a16:creationId xmlns:a16="http://schemas.microsoft.com/office/drawing/2014/main" id="{2ACD5F69-8B5D-A6D1-9B47-698F368DEADE}"/>
              </a:ext>
            </a:extLst>
          </p:cNvPr>
          <p:cNvSpPr txBox="1"/>
          <p:nvPr/>
        </p:nvSpPr>
        <p:spPr>
          <a:xfrm>
            <a:off x="524770" y="1859339"/>
            <a:ext cx="7751560" cy="3139321"/>
          </a:xfrm>
          <a:prstGeom prst="rect">
            <a:avLst/>
          </a:prstGeom>
          <a:noFill/>
        </p:spPr>
        <p:txBody>
          <a:bodyPr wrap="square">
            <a:spAutoFit/>
          </a:bodyPr>
          <a:lstStyle/>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Integrate real EEG signals from ADS1299 and dry electrodes instead of synthetic data.</a:t>
            </a: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Calibrate thresholds for seizure, paralysis, and coma detection for accurate monitoring.</a:t>
            </a: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Enhance signal processing with RMS, peak detection, and optionally FFT for better EEG analysis.</a:t>
            </a: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Optimize IoT visualization and alerts on </a:t>
            </a:r>
            <a:r>
              <a:rPr lang="en-IN" dirty="0" err="1">
                <a:latin typeface="Times New Roman" panose="02020603050405020304" pitchFamily="18" charset="0"/>
                <a:cs typeface="Times New Roman" panose="02020603050405020304" pitchFamily="18" charset="0"/>
              </a:rPr>
              <a:t>ThingSpeak</a:t>
            </a:r>
            <a:r>
              <a:rPr lang="en-IN" dirty="0">
                <a:latin typeface="Times New Roman" panose="02020603050405020304" pitchFamily="18" charset="0"/>
                <a:cs typeface="Times New Roman" panose="02020603050405020304" pitchFamily="18" charset="0"/>
              </a:rPr>
              <a:t>, including data upload timing and notifications</a:t>
            </a:r>
          </a:p>
        </p:txBody>
      </p:sp>
    </p:spTree>
    <p:extLst>
      <p:ext uri="{BB962C8B-B14F-4D97-AF65-F5344CB8AC3E}">
        <p14:creationId xmlns:p14="http://schemas.microsoft.com/office/powerpoint/2010/main" val="29483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Outcomes - Conclusion</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21</a:t>
            </a:fld>
            <a:endParaRPr lang="en-IN" sz="1200">
              <a:solidFill>
                <a:srgbClr val="898989"/>
              </a:solidFill>
            </a:endParaRPr>
          </a:p>
        </p:txBody>
      </p:sp>
      <p:sp>
        <p:nvSpPr>
          <p:cNvPr id="4" name="TextBox 3">
            <a:extLst>
              <a:ext uri="{FF2B5EF4-FFF2-40B4-BE49-F238E27FC236}">
                <a16:creationId xmlns:a16="http://schemas.microsoft.com/office/drawing/2014/main" id="{9BF677E5-CBE1-61C6-069A-0529CE70F68B}"/>
              </a:ext>
            </a:extLst>
          </p:cNvPr>
          <p:cNvSpPr txBox="1"/>
          <p:nvPr/>
        </p:nvSpPr>
        <p:spPr>
          <a:xfrm>
            <a:off x="610680" y="1303506"/>
            <a:ext cx="7890382" cy="5355312"/>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The </a:t>
            </a:r>
            <a:r>
              <a:rPr lang="en-IN" dirty="0" err="1">
                <a:latin typeface="Times New Roman" panose="02020603050405020304" pitchFamily="18" charset="0"/>
                <a:cs typeface="Times New Roman" panose="02020603050405020304" pitchFamily="18" charset="0"/>
              </a:rPr>
              <a:t>NeuroPatch</a:t>
            </a:r>
            <a:r>
              <a:rPr lang="en-IN" dirty="0">
                <a:latin typeface="Times New Roman" panose="02020603050405020304" pitchFamily="18" charset="0"/>
                <a:cs typeface="Times New Roman" panose="02020603050405020304" pitchFamily="18" charset="0"/>
              </a:rPr>
              <a:t> system successfully demonstrates a compact and wearable solution for real-time brain activity monitoring based on the principles of Electroencephalography. The system is capable of acquiring brain signals, processing them efficiently, and identifying abnormal patterns such as irregular neural activity. The integration of embedded processing and wireless communication enables continuous monitoring and remote accessibility of data. The developed prototype shows stable performance in signal acquisition and real-time analysis, ensuring reliability for basic neurological observation. Additionally, the alert mechanism provides immediate notifications during abnormal conditions, improving response time and user safety.</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In conclusion, the </a:t>
            </a:r>
            <a:r>
              <a:rPr lang="en-IN" dirty="0" err="1">
                <a:latin typeface="Times New Roman" panose="02020603050405020304" pitchFamily="18" charset="0"/>
                <a:cs typeface="Times New Roman" panose="02020603050405020304" pitchFamily="18" charset="0"/>
              </a:rPr>
              <a:t>NeuroPatch</a:t>
            </a:r>
            <a:r>
              <a:rPr lang="en-IN" dirty="0">
                <a:latin typeface="Times New Roman" panose="02020603050405020304" pitchFamily="18" charset="0"/>
                <a:cs typeface="Times New Roman" panose="02020603050405020304" pitchFamily="18" charset="0"/>
              </a:rPr>
              <a:t> project provides a cost-effective, portable, and efficient alternative to traditional EEG monitoring systems. The system reduces dependency on bulky clinical equipment and enables continuous monitoring in non-clinical environments. Its scalability allows future enhancements such as advanced signal analysis and integration with intelligent healthcare systems. Overall, the proposed solution contributes to improved healthcare accessibility, early detection of neurological disorders, and enhanced patient safety through real-time monitoring and alert generation.</a:t>
            </a:r>
          </a:p>
        </p:txBody>
      </p:sp>
    </p:spTree>
    <p:extLst>
      <p:ext uri="{BB962C8B-B14F-4D97-AF65-F5344CB8AC3E}">
        <p14:creationId xmlns:p14="http://schemas.microsoft.com/office/powerpoint/2010/main" val="3354583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Outcomes (Patent, Paper, </a:t>
            </a:r>
            <a:r>
              <a:rPr lang="en-US" sz="2800" b="1" dirty="0" err="1">
                <a:solidFill>
                  <a:srgbClr val="7030A0"/>
                </a:solidFill>
                <a:latin typeface="Arial" panose="020B0604020202020204" pitchFamily="34" charset="0"/>
                <a:cs typeface="Arial" panose="020B0604020202020204" pitchFamily="34" charset="0"/>
              </a:rPr>
              <a:t>Hackatons</a:t>
            </a:r>
            <a:r>
              <a:rPr lang="en-US" sz="2800" b="1" dirty="0">
                <a:solidFill>
                  <a:srgbClr val="7030A0"/>
                </a:solidFill>
                <a:latin typeface="Arial" panose="020B0604020202020204" pitchFamily="34" charset="0"/>
                <a:cs typeface="Arial" panose="020B0604020202020204" pitchFamily="34" charset="0"/>
              </a:rPr>
              <a:t> etc.,) – applied / published / granted </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22</a:t>
            </a:fld>
            <a:endParaRPr lang="en-IN" sz="1200">
              <a:solidFill>
                <a:srgbClr val="898989"/>
              </a:solidFill>
            </a:endParaRPr>
          </a:p>
        </p:txBody>
      </p:sp>
      <p:pic>
        <p:nvPicPr>
          <p:cNvPr id="6" name="Picture 5">
            <a:extLst>
              <a:ext uri="{FF2B5EF4-FFF2-40B4-BE49-F238E27FC236}">
                <a16:creationId xmlns:a16="http://schemas.microsoft.com/office/drawing/2014/main" id="{BFBC9752-93C1-5C30-9D8B-7EA4B9FFEA76}"/>
              </a:ext>
            </a:extLst>
          </p:cNvPr>
          <p:cNvPicPr>
            <a:picLocks noChangeAspect="1"/>
          </p:cNvPicPr>
          <p:nvPr/>
        </p:nvPicPr>
        <p:blipFill>
          <a:blip r:embed="rId2"/>
          <a:stretch>
            <a:fillRect/>
          </a:stretch>
        </p:blipFill>
        <p:spPr>
          <a:xfrm>
            <a:off x="204281" y="1089497"/>
            <a:ext cx="8745165" cy="5631977"/>
          </a:xfrm>
          <a:prstGeom prst="rect">
            <a:avLst/>
          </a:prstGeom>
        </p:spPr>
      </p:pic>
    </p:spTree>
    <p:extLst>
      <p:ext uri="{BB962C8B-B14F-4D97-AF65-F5344CB8AC3E}">
        <p14:creationId xmlns:p14="http://schemas.microsoft.com/office/powerpoint/2010/main" val="1179749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BE1F9-ACD2-4B0E-2F21-E4084331404E}"/>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592BED2C-4C26-974E-0A87-B1CF567ADE2A}"/>
              </a:ext>
            </a:extLst>
          </p:cNvPr>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Outcomes (Patent, Paper, </a:t>
            </a:r>
            <a:r>
              <a:rPr lang="en-US" sz="2800" b="1" dirty="0" err="1">
                <a:solidFill>
                  <a:srgbClr val="7030A0"/>
                </a:solidFill>
                <a:latin typeface="Arial" panose="020B0604020202020204" pitchFamily="34" charset="0"/>
                <a:cs typeface="Arial" panose="020B0604020202020204" pitchFamily="34" charset="0"/>
              </a:rPr>
              <a:t>Hackatons</a:t>
            </a:r>
            <a:r>
              <a:rPr lang="en-US" sz="2800" b="1" dirty="0">
                <a:solidFill>
                  <a:srgbClr val="7030A0"/>
                </a:solidFill>
                <a:latin typeface="Arial" panose="020B0604020202020204" pitchFamily="34" charset="0"/>
                <a:cs typeface="Arial" panose="020B0604020202020204" pitchFamily="34" charset="0"/>
              </a:rPr>
              <a:t> etc.,) – applied / published / granted </a:t>
            </a:r>
          </a:p>
        </p:txBody>
      </p:sp>
      <p:sp>
        <p:nvSpPr>
          <p:cNvPr id="3" name="Content Placeholder 2">
            <a:extLst>
              <a:ext uri="{FF2B5EF4-FFF2-40B4-BE49-F238E27FC236}">
                <a16:creationId xmlns:a16="http://schemas.microsoft.com/office/drawing/2014/main" id="{861E9B6F-884D-8505-B763-F763D1B4B4D9}"/>
              </a:ext>
            </a:extLst>
          </p:cNvPr>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a:extLst>
              <a:ext uri="{FF2B5EF4-FFF2-40B4-BE49-F238E27FC236}">
                <a16:creationId xmlns:a16="http://schemas.microsoft.com/office/drawing/2014/main" id="{BB08F30A-06E6-3182-9689-420B0E80926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23</a:t>
            </a:fld>
            <a:endParaRPr lang="en-IN" sz="1200">
              <a:solidFill>
                <a:srgbClr val="898989"/>
              </a:solidFill>
            </a:endParaRPr>
          </a:p>
        </p:txBody>
      </p:sp>
      <p:pic>
        <p:nvPicPr>
          <p:cNvPr id="4" name="Picture 3">
            <a:extLst>
              <a:ext uri="{FF2B5EF4-FFF2-40B4-BE49-F238E27FC236}">
                <a16:creationId xmlns:a16="http://schemas.microsoft.com/office/drawing/2014/main" id="{F334F20D-E6E8-79C3-D288-3BE4941C5C65}"/>
              </a:ext>
            </a:extLst>
          </p:cNvPr>
          <p:cNvPicPr>
            <a:picLocks noChangeAspect="1"/>
          </p:cNvPicPr>
          <p:nvPr/>
        </p:nvPicPr>
        <p:blipFill>
          <a:blip r:embed="rId2"/>
          <a:stretch>
            <a:fillRect/>
          </a:stretch>
        </p:blipFill>
        <p:spPr>
          <a:xfrm>
            <a:off x="1403181" y="1731523"/>
            <a:ext cx="6264613" cy="4202349"/>
          </a:xfrm>
          <a:prstGeom prst="rect">
            <a:avLst/>
          </a:prstGeom>
        </p:spPr>
      </p:pic>
    </p:spTree>
    <p:extLst>
      <p:ext uri="{BB962C8B-B14F-4D97-AF65-F5344CB8AC3E}">
        <p14:creationId xmlns:p14="http://schemas.microsoft.com/office/powerpoint/2010/main" val="786582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r>
              <a:rPr lang="en-US" sz="1800" dirty="0">
                <a:latin typeface="Times New Roman" panose="02020603050405020304" pitchFamily="18" charset="0"/>
                <a:cs typeface="Times New Roman" panose="02020603050405020304" pitchFamily="18" charset="0"/>
              </a:rPr>
              <a:t>The project titled Development Of </a:t>
            </a:r>
            <a:r>
              <a:rPr lang="en-US" sz="1800" dirty="0" err="1">
                <a:latin typeface="Times New Roman" panose="02020603050405020304" pitchFamily="18" charset="0"/>
                <a:cs typeface="Times New Roman" panose="02020603050405020304" pitchFamily="18" charset="0"/>
              </a:rPr>
              <a:t>Neuropatch</a:t>
            </a:r>
            <a:r>
              <a:rPr lang="en-US" sz="1800" dirty="0">
                <a:latin typeface="Times New Roman" panose="02020603050405020304" pitchFamily="18" charset="0"/>
                <a:cs typeface="Times New Roman" panose="02020603050405020304" pitchFamily="18" charset="0"/>
              </a:rPr>
              <a:t>: A Smart Skin Patch For Brain Monitoring And Response aligns with SDG 3: Good Health and Well-Being.</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Reason for Mapping: </a:t>
            </a:r>
          </a:p>
          <a:p>
            <a:pPr algn="just"/>
            <a:r>
              <a:rPr lang="en-US" sz="1800" dirty="0">
                <a:latin typeface="Times New Roman" panose="02020603050405020304" pitchFamily="18" charset="0"/>
                <a:cs typeface="Times New Roman" panose="02020603050405020304" pitchFamily="18" charset="0"/>
              </a:rPr>
              <a:t>SDG 3 By enabling early diagnosis, continuous monitoring and better patient care for people having neurological disorders, our project is directly contributing to SDG 3. With </a:t>
            </a:r>
            <a:r>
              <a:rPr lang="en-US" sz="1800" dirty="0" err="1">
                <a:latin typeface="Times New Roman" panose="02020603050405020304" pitchFamily="18" charset="0"/>
                <a:cs typeface="Times New Roman" panose="02020603050405020304" pitchFamily="18" charset="0"/>
              </a:rPr>
              <a:t>NeuroPatch</a:t>
            </a:r>
            <a:r>
              <a:rPr lang="en-US" sz="1800" dirty="0">
                <a:latin typeface="Times New Roman" panose="02020603050405020304" pitchFamily="18" charset="0"/>
                <a:cs typeface="Times New Roman" panose="02020603050405020304" pitchFamily="18" charset="0"/>
              </a:rPr>
              <a:t> we can monitor brain signals in real time and without need electroencephalogram device It can help in the early detection of seizures, monitoring of coma patients and detection of intent signals in cases of paralysis, etc. PC is used for real-time monitoring. Proof of this system is </a:t>
            </a:r>
            <a:r>
              <a:rPr lang="en-US" sz="1800" dirty="0" err="1">
                <a:latin typeface="Times New Roman" panose="02020603050405020304" pitchFamily="18" charset="0"/>
                <a:cs typeface="Times New Roman" panose="02020603050405020304" pitchFamily="18" charset="0"/>
              </a:rPr>
              <a:t>obtained.achievable</a:t>
            </a:r>
            <a:r>
              <a:rPr lang="en-US" sz="1800" dirty="0">
                <a:latin typeface="Times New Roman" panose="02020603050405020304" pitchFamily="18" charset="0"/>
                <a:cs typeface="Times New Roman" panose="02020603050405020304" pitchFamily="18" charset="0"/>
              </a:rPr>
              <a:t> easily by doctors. The suggested system would be beneficial in the. Identifying Neurological Disorders in Outpatient Settings. Intelligent is to be a relevant resource for interviews. and brain checks The continuous monitoring here is done by means of proportioning to </a:t>
            </a:r>
            <a:r>
              <a:rPr lang="en-US" sz="1800" dirty="0" err="1">
                <a:latin typeface="Times New Roman" panose="02020603050405020304" pitchFamily="18" charset="0"/>
                <a:cs typeface="Times New Roman" panose="02020603050405020304" pitchFamily="18" charset="0"/>
              </a:rPr>
              <a:t>remove.The</a:t>
            </a:r>
            <a:r>
              <a:rPr lang="en-US" sz="1800" dirty="0">
                <a:latin typeface="Times New Roman" panose="02020603050405020304" pitchFamily="18" charset="0"/>
                <a:cs typeface="Times New Roman" panose="02020603050405020304" pitchFamily="18" charset="0"/>
              </a:rPr>
              <a:t> patient does not have to carry devices with </a:t>
            </a:r>
            <a:r>
              <a:rPr lang="en-US" sz="1800" dirty="0" err="1">
                <a:latin typeface="Times New Roman" panose="02020603050405020304" pitchFamily="18" charset="0"/>
                <a:cs typeface="Times New Roman" panose="02020603050405020304" pitchFamily="18" charset="0"/>
              </a:rPr>
              <a:t>him.Those</a:t>
            </a:r>
            <a:r>
              <a:rPr lang="en-US" sz="1800" dirty="0">
                <a:latin typeface="Times New Roman" panose="02020603050405020304" pitchFamily="18" charset="0"/>
                <a:cs typeface="Times New Roman" panose="02020603050405020304" pitchFamily="18" charset="0"/>
              </a:rPr>
              <a:t> suffering from it. The device assists during an arrest. The patient’s early intervention by measurement of brain waves.</a:t>
            </a:r>
            <a:endParaRPr lang="en-IN" sz="1800" dirty="0">
              <a:solidFill>
                <a:srgbClr val="00206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03A8B13-2D84-4CF8-A4DE-AA9E303C3B51}" type="datetime1">
              <a:rPr lang="en-IN" smtClean="0"/>
              <a:pPr/>
              <a:t>15-04-2026</a:t>
            </a:fld>
            <a:endParaRPr lang="en-IN" dirty="0"/>
          </a:p>
        </p:txBody>
      </p:sp>
      <p:sp>
        <p:nvSpPr>
          <p:cNvPr id="5" name="Footer Placeholder 4"/>
          <p:cNvSpPr>
            <a:spLocks noGrp="1"/>
          </p:cNvSpPr>
          <p:nvPr>
            <p:ph type="ftr" sz="quarter" idx="11"/>
          </p:nvPr>
        </p:nvSpPr>
        <p:spPr/>
        <p:txBody>
          <a:bodyPr/>
          <a:lstStyle/>
          <a:p>
            <a:r>
              <a:rPr lang="en-US" b="1" dirty="0"/>
              <a:t>SREC-MECH</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IN" sz="2800" dirty="0">
                <a:solidFill>
                  <a:srgbClr val="660066"/>
                </a:solidFill>
                <a:latin typeface="Arial" panose="020B0604020202020204" pitchFamily="34" charset="0"/>
                <a:cs typeface="Arial" panose="020B0604020202020204" pitchFamily="34" charset="0"/>
              </a:rPr>
              <a:t>SDG Goals</a:t>
            </a:r>
          </a:p>
        </p:txBody>
      </p:sp>
    </p:spTree>
    <p:extLst>
      <p:ext uri="{BB962C8B-B14F-4D97-AF65-F5344CB8AC3E}">
        <p14:creationId xmlns:p14="http://schemas.microsoft.com/office/powerpoint/2010/main" val="1032545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pPr eaLnBrk="1" hangingPunct="1"/>
            <a:r>
              <a:rPr lang="en-US" sz="2800" b="1">
                <a:solidFill>
                  <a:srgbClr val="7030A0"/>
                </a:solidFill>
                <a:latin typeface="Arial" panose="020B0604020202020204" pitchFamily="34" charset="0"/>
                <a:cs typeface="Arial" panose="020B0604020202020204" pitchFamily="34" charset="0"/>
              </a:rPr>
              <a:t>References </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Autofit/>
          </a:bodyPr>
          <a:lstStyle/>
          <a:p>
            <a:pPr marL="0" indent="0" algn="just">
              <a:buNone/>
              <a:defRPr/>
            </a:pPr>
            <a:r>
              <a:rPr lang="en-IN" sz="1800" dirty="0">
                <a:latin typeface="Times New Roman" panose="02020603050405020304" pitchFamily="18" charset="0"/>
                <a:cs typeface="Times New Roman" panose="02020603050405020304" pitchFamily="18" charset="0"/>
              </a:rPr>
              <a:t>[1] </a:t>
            </a:r>
            <a:r>
              <a:rPr lang="en-IN" sz="1800" dirty="0" err="1">
                <a:latin typeface="Times New Roman" panose="02020603050405020304" pitchFamily="18" charset="0"/>
                <a:cs typeface="Times New Roman" panose="02020603050405020304" pitchFamily="18" charset="0"/>
              </a:rPr>
              <a:t>Golmohammadi</a:t>
            </a:r>
            <a:r>
              <a:rPr lang="en-IN" sz="1800" dirty="0">
                <a:latin typeface="Times New Roman" panose="02020603050405020304" pitchFamily="18" charset="0"/>
                <a:cs typeface="Times New Roman" panose="02020603050405020304" pitchFamily="18" charset="0"/>
              </a:rPr>
              <a:t>, M., </a:t>
            </a:r>
            <a:r>
              <a:rPr lang="en-IN" sz="1800" dirty="0" err="1">
                <a:latin typeface="Times New Roman" panose="02020603050405020304" pitchFamily="18" charset="0"/>
                <a:cs typeface="Times New Roman" panose="02020603050405020304" pitchFamily="18" charset="0"/>
              </a:rPr>
              <a:t>Ziyabari</a:t>
            </a:r>
            <a:r>
              <a:rPr lang="en-IN" sz="1800" dirty="0">
                <a:latin typeface="Times New Roman" panose="02020603050405020304" pitchFamily="18" charset="0"/>
                <a:cs typeface="Times New Roman" panose="02020603050405020304" pitchFamily="18" charset="0"/>
              </a:rPr>
              <a:t>, S., Shah, V., &amp; Lopresti, D. (2018). Deep architectures for automated seizure detection in scalp EEGs. Proceedings of the IEEE Signal Processing in Medicine and Biology Symposium (SPMB), 1–5. https://doi.org/10.1109/SPMB.2018.8615602 </a:t>
            </a:r>
          </a:p>
          <a:p>
            <a:pPr marL="0" indent="0" algn="just">
              <a:buNone/>
              <a:defRPr/>
            </a:pPr>
            <a:r>
              <a:rPr lang="en-IN" sz="1800" dirty="0">
                <a:latin typeface="Times New Roman" panose="02020603050405020304" pitchFamily="18" charset="0"/>
                <a:cs typeface="Times New Roman" panose="02020603050405020304" pitchFamily="18" charset="0"/>
              </a:rPr>
              <a:t>[2] Avcu, G., </a:t>
            </a:r>
            <a:r>
              <a:rPr lang="en-IN" sz="1800" dirty="0" err="1">
                <a:latin typeface="Times New Roman" panose="02020603050405020304" pitchFamily="18" charset="0"/>
                <a:cs typeface="Times New Roman" panose="02020603050405020304" pitchFamily="18" charset="0"/>
              </a:rPr>
              <a:t>Abdelhameed</a:t>
            </a:r>
            <a:r>
              <a:rPr lang="en-IN" sz="1800" dirty="0">
                <a:latin typeface="Times New Roman" panose="02020603050405020304" pitchFamily="18" charset="0"/>
                <a:cs typeface="Times New Roman" panose="02020603050405020304" pitchFamily="18" charset="0"/>
              </a:rPr>
              <a:t>, I., &amp; Islam, M. R. (2019). Seizure detection using least EEG channels by deep convolutional neural network. Signal, Image and Video Processing, 13(5), 997–1004. https://doi.org/10.1007/s11760-018-01423-2 </a:t>
            </a:r>
          </a:p>
          <a:p>
            <a:pPr marL="0" indent="0" algn="just">
              <a:buNone/>
              <a:defRPr/>
            </a:pPr>
            <a:r>
              <a:rPr lang="en-IN" sz="1800" dirty="0">
                <a:latin typeface="Times New Roman" panose="02020603050405020304" pitchFamily="18" charset="0"/>
                <a:cs typeface="Times New Roman" panose="02020603050405020304" pitchFamily="18" charset="0"/>
              </a:rPr>
              <a:t>[3] Huang, Y., Chen, M., &amp; Yin, E. (2021). A novel deep learning model for motor imagery classification in brain–computer interfaces. Frontiers in Neuroscience, 15, 774857. https://doi.org/10.3389/fnins.2021.774857 </a:t>
            </a:r>
          </a:p>
          <a:p>
            <a:pPr marL="0" indent="0" algn="just">
              <a:buNone/>
              <a:defRPr/>
            </a:pPr>
            <a:r>
              <a:rPr lang="en-IN" sz="1800" dirty="0">
                <a:latin typeface="Times New Roman" panose="02020603050405020304" pitchFamily="18" charset="0"/>
                <a:cs typeface="Times New Roman" panose="02020603050405020304" pitchFamily="18" charset="0"/>
              </a:rPr>
              <a:t>[4] Salami, M., </a:t>
            </a:r>
            <a:r>
              <a:rPr lang="en-IN" sz="1800" dirty="0" err="1">
                <a:latin typeface="Times New Roman" panose="02020603050405020304" pitchFamily="18" charset="0"/>
                <a:cs typeface="Times New Roman" panose="02020603050405020304" pitchFamily="18" charset="0"/>
              </a:rPr>
              <a:t>Siuly</a:t>
            </a:r>
            <a:r>
              <a:rPr lang="en-IN" sz="1800" dirty="0">
                <a:latin typeface="Times New Roman" panose="02020603050405020304" pitchFamily="18" charset="0"/>
                <a:cs typeface="Times New Roman" panose="02020603050405020304" pitchFamily="18" charset="0"/>
              </a:rPr>
              <a:t>, S., Wang, H., &amp; Zhang, Y. (2022). EEG-</a:t>
            </a:r>
            <a:r>
              <a:rPr lang="en-IN" sz="1800" dirty="0" err="1">
                <a:latin typeface="Times New Roman" panose="02020603050405020304" pitchFamily="18" charset="0"/>
                <a:cs typeface="Times New Roman" panose="02020603050405020304" pitchFamily="18" charset="0"/>
              </a:rPr>
              <a:t>ITNet</a:t>
            </a:r>
            <a:r>
              <a:rPr lang="en-IN" sz="1800" dirty="0">
                <a:latin typeface="Times New Roman" panose="02020603050405020304" pitchFamily="18" charset="0"/>
                <a:cs typeface="Times New Roman" panose="02020603050405020304" pitchFamily="18" charset="0"/>
              </a:rPr>
              <a:t>: Explainable Inception Temporal CNN for motor imagery classification. IEEE Journal of Biomedical and Health Informatics, 26</a:t>
            </a:r>
          </a:p>
          <a:p>
            <a:pPr marL="0" indent="0" algn="just">
              <a:buNone/>
              <a:defRPr/>
            </a:pPr>
            <a:r>
              <a:rPr lang="en-IN" sz="1800" dirty="0">
                <a:latin typeface="Times New Roman" panose="02020603050405020304" pitchFamily="18" charset="0"/>
                <a:cs typeface="Times New Roman" panose="02020603050405020304" pitchFamily="18" charset="0"/>
              </a:rPr>
              <a:t>(5), 2156–2166. https://doi.org/10.1109/JBHI.2022.3146181 [5] Roy, Y., Banville, H., Albuquerque, I., </a:t>
            </a:r>
            <a:r>
              <a:rPr lang="en-IN" sz="1800" dirty="0" err="1">
                <a:latin typeface="Times New Roman" panose="02020603050405020304" pitchFamily="18" charset="0"/>
                <a:cs typeface="Times New Roman" panose="02020603050405020304" pitchFamily="18" charset="0"/>
              </a:rPr>
              <a:t>Gramfort</a:t>
            </a:r>
            <a:r>
              <a:rPr lang="en-IN" sz="1800" dirty="0">
                <a:latin typeface="Times New Roman" panose="02020603050405020304" pitchFamily="18" charset="0"/>
                <a:cs typeface="Times New Roman" panose="02020603050405020304" pitchFamily="18" charset="0"/>
              </a:rPr>
              <a:t>, A., Falk, T. H., &amp; Faubert, J. (2019). Deep learning-based electroencephalography analysis: a systematic review. Journal of Neural Engineering, 16(5), 05100. https://doi.org/10.1088/1741-2552/ab260c </a:t>
            </a:r>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25</a:t>
            </a:fld>
            <a:endParaRPr lang="en-IN" sz="1200" dirty="0">
              <a:solidFill>
                <a:srgbClr val="898989"/>
              </a:solidFill>
            </a:endParaRPr>
          </a:p>
        </p:txBody>
      </p:sp>
    </p:spTree>
    <p:extLst>
      <p:ext uri="{BB962C8B-B14F-4D97-AF65-F5344CB8AC3E}">
        <p14:creationId xmlns:p14="http://schemas.microsoft.com/office/powerpoint/2010/main" val="16118918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3604</TotalTime>
  <Words>2026</Words>
  <Application>Microsoft Office PowerPoint</Application>
  <PresentationFormat>On-screen Show (4:3)</PresentationFormat>
  <Paragraphs>243</Paragraphs>
  <Slides>25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Office Theme</vt:lpstr>
      <vt:lpstr>PowerPoint Presentation</vt:lpstr>
      <vt:lpstr>  </vt:lpstr>
      <vt:lpstr>  </vt:lpstr>
      <vt:lpstr>  </vt:lpstr>
      <vt:lpstr>Literature Survey - 02</vt:lpstr>
      <vt:lpstr>Literature Survey - 03</vt:lpstr>
      <vt:lpstr>Literature Survey - 04</vt:lpstr>
      <vt:lpstr>Literature Survey - 05</vt:lpstr>
      <vt:lpstr>  </vt:lpstr>
      <vt:lpstr>  </vt:lpstr>
      <vt:lpstr>Existing technology of the project</vt:lpstr>
      <vt:lpstr>Existing technology of the project</vt:lpstr>
      <vt:lpstr>Methodology</vt:lpstr>
      <vt:lpstr>Design &amp; Experimentation</vt:lpstr>
      <vt:lpstr>Design &amp; Experimentation</vt:lpstr>
      <vt:lpstr>Technical feasibility</vt:lpstr>
      <vt:lpstr>Financial Costing</vt:lpstr>
      <vt:lpstr>Results &amp; Discussion</vt:lpstr>
      <vt:lpstr>Results</vt:lpstr>
      <vt:lpstr>Scope for future wok</vt:lpstr>
      <vt:lpstr>Outcomes - Conclusion</vt:lpstr>
      <vt:lpstr>Outcomes (Patent, Paper, Hackatons etc.,) – applied / published / granted </vt:lpstr>
      <vt:lpstr>Outcomes (Patent, Paper, Hackatons etc.,) – applied / published / granted </vt:lpstr>
      <vt:lpstr>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COIN</dc:creator>
  <cp:lastModifiedBy>Poojanivethidha M</cp:lastModifiedBy>
  <cp:revision>164</cp:revision>
  <dcterms:created xsi:type="dcterms:W3CDTF">2025-12-18T09:03:03Z</dcterms:created>
  <dcterms:modified xsi:type="dcterms:W3CDTF">2026-04-15T10:24:15Z</dcterms:modified>
</cp:coreProperties>
</file>